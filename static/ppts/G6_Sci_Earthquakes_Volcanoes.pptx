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2A9D8F"/>
          </a:solidFill>
          <a:ln/>
        </p:spPr>
      </p:sp>
      <p:sp>
        <p:nvSpPr>
          <p:cNvPr id="3" name="Text 1"/>
          <p:cNvSpPr/>
          <p:nvPr/>
        </p:nvSpPr>
        <p:spPr>
          <a:xfrm>
            <a:off x="731520" y="1097280"/>
            <a:ext cx="7772400" cy="13716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Earthquakes &amp; Volcanoes</a:t>
            </a:r>
            <a:endParaRPr lang="en-US" sz="4000" dirty="0"/>
          </a:p>
        </p:txBody>
      </p:sp>
      <p:sp>
        <p:nvSpPr>
          <p:cNvPr id="4" name="Text 2"/>
          <p:cNvSpPr/>
          <p:nvPr/>
        </p:nvSpPr>
        <p:spPr>
          <a:xfrm>
            <a:off x="731520" y="2560320"/>
            <a:ext cx="7772400" cy="548640"/>
          </a:xfrm>
          <a:prstGeom prst="rect">
            <a:avLst/>
          </a:prstGeom>
          <a:noFill/>
          <a:ln/>
        </p:spPr>
        <p:txBody>
          <a:bodyPr wrap="square" rtlCol="0" anchor="ctr"/>
          <a:lstStyle/>
          <a:p>
            <a:pPr indent="0" marL="0">
              <a:buNone/>
            </a:pPr>
            <a:r>
              <a:rPr lang="en-US" sz="1600" dirty="0">
                <a:solidFill>
                  <a:srgbClr val="E9C46A"/>
                </a:solidFill>
                <a:latin typeface="Calibri" pitchFamily="34" charset="0"/>
                <a:ea typeface="Calibri" pitchFamily="34" charset="-122"/>
                <a:cs typeface="Calibri" pitchFamily="34" charset="-120"/>
              </a:rPr>
              <a:t>Grade 6 Science · Mr Zocchi</a:t>
            </a:r>
            <a:endParaRPr lang="en-US" sz="1600" dirty="0"/>
          </a:p>
        </p:txBody>
      </p:sp>
      <p:sp>
        <p:nvSpPr>
          <p:cNvPr id="5" name="Shape 3"/>
          <p:cNvSpPr/>
          <p:nvPr/>
        </p:nvSpPr>
        <p:spPr>
          <a:xfrm>
            <a:off x="731520" y="3474720"/>
            <a:ext cx="2011680" cy="411480"/>
          </a:xfrm>
          <a:prstGeom prst="roundRect">
            <a:avLst>
              <a:gd name="adj" fmla="val 17778"/>
            </a:avLst>
          </a:prstGeom>
          <a:solidFill>
            <a:srgbClr val="2A9D8F"/>
          </a:solidFill>
          <a:ln/>
        </p:spPr>
      </p:sp>
      <p:sp>
        <p:nvSpPr>
          <p:cNvPr id="6" name="Text 4"/>
          <p:cNvSpPr/>
          <p:nvPr/>
        </p:nvSpPr>
        <p:spPr>
          <a:xfrm>
            <a:off x="731520" y="3474720"/>
            <a:ext cx="2011680" cy="41148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Term 3 · Earth Science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A9D8F"/>
          </a:solidFill>
          <a:ln/>
        </p:spPr>
      </p:sp>
      <p:sp>
        <p:nvSpPr>
          <p:cNvPr id="3" name="Text 1"/>
          <p:cNvSpPr/>
          <p:nvPr/>
        </p:nvSpPr>
        <p:spPr>
          <a:xfrm>
            <a:off x="7772400" y="4709160"/>
            <a:ext cx="1097280" cy="320040"/>
          </a:xfrm>
          <a:prstGeom prst="rect">
            <a:avLst/>
          </a:prstGeom>
          <a:noFill/>
          <a:ln/>
        </p:spPr>
        <p:txBody>
          <a:bodyPr wrap="square" rtlCol="0" anchor="ctr"/>
          <a:lstStyle/>
          <a:p>
            <a:pPr algn="r" indent="0" marL="0">
              <a:buNone/>
            </a:pPr>
            <a:r>
              <a:rPr lang="en-US" sz="900" dirty="0">
                <a:solidFill>
                  <a:srgbClr val="6B6660"/>
                </a:solidFill>
                <a:latin typeface="Calibri" pitchFamily="34" charset="0"/>
                <a:ea typeface="Calibri" pitchFamily="34" charset="-122"/>
                <a:cs typeface="Calibri" pitchFamily="34" charset="-120"/>
              </a:rPr>
              <a:t>2 / 5</a:t>
            </a:r>
            <a:endParaRPr lang="en-US" sz="900" dirty="0"/>
          </a:p>
        </p:txBody>
      </p:sp>
      <p:sp>
        <p:nvSpPr>
          <p:cNvPr id="4" name="Shape 2"/>
          <p:cNvSpPr/>
          <p:nvPr/>
        </p:nvSpPr>
        <p:spPr>
          <a:xfrm>
            <a:off x="1371600" y="914400"/>
            <a:ext cx="6400800" cy="3200400"/>
          </a:xfrm>
          <a:prstGeom prst="rect">
            <a:avLst/>
          </a:prstGeom>
          <a:solidFill>
            <a:srgbClr val="FFFFFF"/>
          </a:solidFill>
          <a:ln w="12700">
            <a:solidFill>
              <a:srgbClr val="E5E2DC"/>
            </a:solidFill>
            <a:prstDash val="solid"/>
          </a:ln>
          <a:effectLst>
            <a:outerShdw sx="100000" sy="100000" kx="0" ky="0" algn="bl" rotWithShape="0" blurRad="50800" dist="25400" dir="8100000">
              <a:srgbClr val="000000">
                <a:alpha val="10000"/>
              </a:srgbClr>
            </a:outerShdw>
          </a:effectLst>
        </p:spPr>
      </p:sp>
      <p:sp>
        <p:nvSpPr>
          <p:cNvPr id="5" name="Shape 3"/>
          <p:cNvSpPr/>
          <p:nvPr/>
        </p:nvSpPr>
        <p:spPr>
          <a:xfrm>
            <a:off x="1371600" y="914400"/>
            <a:ext cx="91440" cy="3200400"/>
          </a:xfrm>
          <a:prstGeom prst="rect">
            <a:avLst/>
          </a:prstGeom>
          <a:solidFill>
            <a:srgbClr val="2A9D8F"/>
          </a:solidFill>
          <a:ln/>
        </p:spPr>
      </p:sp>
      <p:sp>
        <p:nvSpPr>
          <p:cNvPr id="6" name="Text 4"/>
          <p:cNvSpPr/>
          <p:nvPr/>
        </p:nvSpPr>
        <p:spPr>
          <a:xfrm>
            <a:off x="1828800" y="1097280"/>
            <a:ext cx="5669280" cy="640080"/>
          </a:xfrm>
          <a:prstGeom prst="rect">
            <a:avLst/>
          </a:prstGeom>
          <a:noFill/>
          <a:ln/>
        </p:spPr>
        <p:txBody>
          <a:bodyPr wrap="square" rtlCol="0" anchor="ctr"/>
          <a:lstStyle/>
          <a:p>
            <a:pPr indent="0" marL="0">
              <a:buNone/>
            </a:pPr>
            <a:r>
              <a:rPr lang="en-US" sz="2400" b="1" dirty="0">
                <a:solidFill>
                  <a:srgbClr val="1B2A4A"/>
                </a:solidFill>
                <a:latin typeface="Georgia" pitchFamily="34" charset="0"/>
                <a:ea typeface="Georgia" pitchFamily="34" charset="-122"/>
                <a:cs typeface="Georgia" pitchFamily="34" charset="-120"/>
              </a:rPr>
              <a:t>Why Do Earthquakes and Volcanoes Happen?</a:t>
            </a:r>
            <a:endParaRPr lang="en-US" sz="2400" dirty="0"/>
          </a:p>
        </p:txBody>
      </p:sp>
      <p:sp>
        <p:nvSpPr>
          <p:cNvPr id="7" name="Text 5"/>
          <p:cNvSpPr/>
          <p:nvPr/>
        </p:nvSpPr>
        <p:spPr>
          <a:xfrm>
            <a:off x="1828800" y="1828800"/>
            <a:ext cx="5669280" cy="2011680"/>
          </a:xfrm>
          <a:prstGeom prst="rect">
            <a:avLst/>
          </a:prstGeom>
          <a:noFill/>
          <a:ln/>
        </p:spPr>
        <p:txBody>
          <a:bodyPr wrap="square" rtlCol="0" anchor="t"/>
          <a:lstStyle/>
          <a:p>
            <a:pPr indent="0" marL="0">
              <a:lnSpc>
                <a:spcPct val="130000"/>
              </a:lnSpc>
              <a:buNone/>
            </a:pPr>
            <a:r>
              <a:rPr lang="en-US" sz="1500" dirty="0">
                <a:solidFill>
                  <a:srgbClr val="3D3A36"/>
                </a:solidFill>
                <a:latin typeface="Calibri" pitchFamily="34" charset="0"/>
                <a:ea typeface="Calibri" pitchFamily="34" charset="-122"/>
                <a:cs typeface="Calibri" pitchFamily="34" charset="-120"/>
              </a:rPr>
              <a:t>Both are caused by tectonic plate movement. Earthquakes occur when plates get stuck then suddenly release energy. Volcanoes occur where magma from the mantle reaches the surface. Most occur at plate boundaries, especially around the Ring of Fire.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A9D8F"/>
          </a:solidFill>
          <a:ln/>
        </p:spPr>
      </p:sp>
      <p:sp>
        <p:nvSpPr>
          <p:cNvPr id="3" name="Text 1"/>
          <p:cNvSpPr/>
          <p:nvPr/>
        </p:nvSpPr>
        <p:spPr>
          <a:xfrm>
            <a:off x="7772400" y="4709160"/>
            <a:ext cx="1097280" cy="320040"/>
          </a:xfrm>
          <a:prstGeom prst="rect">
            <a:avLst/>
          </a:prstGeom>
          <a:noFill/>
          <a:ln/>
        </p:spPr>
        <p:txBody>
          <a:bodyPr wrap="square" rtlCol="0" anchor="ctr"/>
          <a:lstStyle/>
          <a:p>
            <a:pPr algn="r" indent="0" marL="0">
              <a:buNone/>
            </a:pPr>
            <a:r>
              <a:rPr lang="en-US" sz="900" dirty="0">
                <a:solidFill>
                  <a:srgbClr val="6B6660"/>
                </a:solidFill>
                <a:latin typeface="Calibri" pitchFamily="34" charset="0"/>
                <a:ea typeface="Calibri" pitchFamily="34" charset="-122"/>
                <a:cs typeface="Calibri" pitchFamily="34" charset="-120"/>
              </a:rPr>
              <a:t>3 / 5</a:t>
            </a:r>
            <a:endParaRPr lang="en-US" sz="900" dirty="0"/>
          </a:p>
        </p:txBody>
      </p:sp>
      <p:sp>
        <p:nvSpPr>
          <p:cNvPr id="4" name="Text 2"/>
          <p:cNvSpPr/>
          <p:nvPr/>
        </p:nvSpPr>
        <p:spPr>
          <a:xfrm>
            <a:off x="457200" y="274320"/>
            <a:ext cx="8229600" cy="640080"/>
          </a:xfrm>
          <a:prstGeom prst="rect">
            <a:avLst/>
          </a:prstGeom>
          <a:noFill/>
          <a:ln/>
        </p:spPr>
        <p:txBody>
          <a:bodyPr wrap="square" rtlCol="0" anchor="ctr"/>
          <a:lstStyle/>
          <a:p>
            <a:pPr indent="0" marL="0">
              <a:buNone/>
            </a:pPr>
            <a:r>
              <a:rPr lang="en-US" sz="2600" b="1" dirty="0">
                <a:solidFill>
                  <a:srgbClr val="1B2A4A"/>
                </a:solidFill>
                <a:latin typeface="Georgia" pitchFamily="34" charset="0"/>
                <a:ea typeface="Georgia" pitchFamily="34" charset="-122"/>
                <a:cs typeface="Georgia" pitchFamily="34" charset="-120"/>
              </a:rPr>
              <a:t>Earthquakes</a:t>
            </a:r>
            <a:endParaRPr lang="en-US" sz="2600" dirty="0"/>
          </a:p>
        </p:txBody>
      </p:sp>
      <p:sp>
        <p:nvSpPr>
          <p:cNvPr id="5" name="Shape 3"/>
          <p:cNvSpPr/>
          <p:nvPr/>
        </p:nvSpPr>
        <p:spPr>
          <a:xfrm>
            <a:off x="457200" y="1188720"/>
            <a:ext cx="2560320" cy="1828800"/>
          </a:xfrm>
          <a:prstGeom prst="rect">
            <a:avLst/>
          </a:prstGeom>
          <a:solidFill>
            <a:srgbClr val="FFFFFF"/>
          </a:solidFill>
          <a:ln w="12700">
            <a:solidFill>
              <a:srgbClr val="E5E2DC"/>
            </a:solidFill>
            <a:prstDash val="solid"/>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2560320" cy="54864"/>
          </a:xfrm>
          <a:prstGeom prst="rect">
            <a:avLst/>
          </a:prstGeom>
          <a:solidFill>
            <a:srgbClr val="2A9D8F"/>
          </a:solidFill>
          <a:ln/>
        </p:spPr>
      </p:sp>
      <p:sp>
        <p:nvSpPr>
          <p:cNvPr id="7" name="Text 5"/>
          <p:cNvSpPr/>
          <p:nvPr/>
        </p:nvSpPr>
        <p:spPr>
          <a:xfrm>
            <a:off x="594360" y="1325880"/>
            <a:ext cx="2286000" cy="365760"/>
          </a:xfrm>
          <a:prstGeom prst="rect">
            <a:avLst/>
          </a:prstGeom>
          <a:noFill/>
          <a:ln/>
        </p:spPr>
        <p:txBody>
          <a:bodyPr wrap="square"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How They Happen</a:t>
            </a:r>
            <a:endParaRPr lang="en-US" sz="1400" dirty="0"/>
          </a:p>
        </p:txBody>
      </p:sp>
      <p:sp>
        <p:nvSpPr>
          <p:cNvPr id="8" name="Text 6"/>
          <p:cNvSpPr/>
          <p:nvPr/>
        </p:nvSpPr>
        <p:spPr>
          <a:xfrm>
            <a:off x="594360" y="1737360"/>
            <a:ext cx="2286000" cy="1097280"/>
          </a:xfrm>
          <a:prstGeom prst="rect">
            <a:avLst/>
          </a:prstGeom>
          <a:noFill/>
          <a:ln/>
        </p:spPr>
        <p:txBody>
          <a:bodyPr wrap="square" rtlCol="0" anchor="t"/>
          <a:lstStyle/>
          <a:p>
            <a:pPr indent="0" marL="0">
              <a:buNone/>
            </a:pPr>
            <a:r>
              <a:rPr lang="en-US" sz="1100" dirty="0">
                <a:solidFill>
                  <a:srgbClr val="3D3A36"/>
                </a:solidFill>
                <a:latin typeface="Calibri" pitchFamily="34" charset="0"/>
                <a:ea typeface="Calibri" pitchFamily="34" charset="-122"/>
                <a:cs typeface="Calibri" pitchFamily="34" charset="-120"/>
              </a:rPr>
              <a:t>Plates moving create friction. Pressure builds up. When plates suddenly slip, energy is released as seismic waves. The focus is where it starts underground; the epicentre is directly above on the surface.</a:t>
            </a:r>
            <a:endParaRPr lang="en-US" sz="1100" dirty="0"/>
          </a:p>
        </p:txBody>
      </p:sp>
      <p:sp>
        <p:nvSpPr>
          <p:cNvPr id="9" name="Shape 7"/>
          <p:cNvSpPr/>
          <p:nvPr/>
        </p:nvSpPr>
        <p:spPr>
          <a:xfrm>
            <a:off x="3291840" y="1188720"/>
            <a:ext cx="2560320" cy="1828800"/>
          </a:xfrm>
          <a:prstGeom prst="rect">
            <a:avLst/>
          </a:prstGeom>
          <a:solidFill>
            <a:srgbClr val="FFFFFF"/>
          </a:solidFill>
          <a:ln w="12700">
            <a:solidFill>
              <a:srgbClr val="E5E2DC"/>
            </a:solidFill>
            <a:prstDash val="solid"/>
          </a:ln>
          <a:effectLst>
            <a:outerShdw sx="100000" sy="100000" kx="0" ky="0" algn="bl" rotWithShape="0" blurRad="50800" dist="25400" dir="8100000">
              <a:srgbClr val="000000">
                <a:alpha val="10000"/>
              </a:srgbClr>
            </a:outerShdw>
          </a:effectLst>
        </p:spPr>
      </p:sp>
      <p:sp>
        <p:nvSpPr>
          <p:cNvPr id="10" name="Shape 8"/>
          <p:cNvSpPr/>
          <p:nvPr/>
        </p:nvSpPr>
        <p:spPr>
          <a:xfrm>
            <a:off x="3291840" y="1188720"/>
            <a:ext cx="2560320" cy="54864"/>
          </a:xfrm>
          <a:prstGeom prst="rect">
            <a:avLst/>
          </a:prstGeom>
          <a:solidFill>
            <a:srgbClr val="2A9D8F"/>
          </a:solidFill>
          <a:ln/>
        </p:spPr>
      </p:sp>
      <p:sp>
        <p:nvSpPr>
          <p:cNvPr id="11" name="Text 9"/>
          <p:cNvSpPr/>
          <p:nvPr/>
        </p:nvSpPr>
        <p:spPr>
          <a:xfrm>
            <a:off x="3429000" y="1325880"/>
            <a:ext cx="2286000" cy="365760"/>
          </a:xfrm>
          <a:prstGeom prst="rect">
            <a:avLst/>
          </a:prstGeom>
          <a:noFill/>
          <a:ln/>
        </p:spPr>
        <p:txBody>
          <a:bodyPr wrap="square"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Measuring Earthquakes</a:t>
            </a:r>
            <a:endParaRPr lang="en-US" sz="1400" dirty="0"/>
          </a:p>
        </p:txBody>
      </p:sp>
      <p:sp>
        <p:nvSpPr>
          <p:cNvPr id="12" name="Text 10"/>
          <p:cNvSpPr/>
          <p:nvPr/>
        </p:nvSpPr>
        <p:spPr>
          <a:xfrm>
            <a:off x="3429000" y="1737360"/>
            <a:ext cx="2286000" cy="1097280"/>
          </a:xfrm>
          <a:prstGeom prst="rect">
            <a:avLst/>
          </a:prstGeom>
          <a:noFill/>
          <a:ln/>
        </p:spPr>
        <p:txBody>
          <a:bodyPr wrap="square" rtlCol="0" anchor="t"/>
          <a:lstStyle/>
          <a:p>
            <a:pPr indent="0" marL="0">
              <a:buNone/>
            </a:pPr>
            <a:r>
              <a:rPr lang="en-US" sz="1100" dirty="0">
                <a:solidFill>
                  <a:srgbClr val="3D3A36"/>
                </a:solidFill>
                <a:latin typeface="Calibri" pitchFamily="34" charset="0"/>
                <a:ea typeface="Calibri" pitchFamily="34" charset="-122"/>
                <a:cs typeface="Calibri" pitchFamily="34" charset="-120"/>
              </a:rPr>
              <a:t>The Richter Scale measures magnitude (energy released). Each whole number is ~30× more energy. The Mercalli Scale measures intensity (damage caused). Seismographs detect seismic waves.</a:t>
            </a:r>
            <a:endParaRPr lang="en-US" sz="1100" dirty="0"/>
          </a:p>
        </p:txBody>
      </p:sp>
      <p:sp>
        <p:nvSpPr>
          <p:cNvPr id="13" name="Shape 11"/>
          <p:cNvSpPr/>
          <p:nvPr/>
        </p:nvSpPr>
        <p:spPr>
          <a:xfrm>
            <a:off x="6126480" y="1188720"/>
            <a:ext cx="2560320" cy="1828800"/>
          </a:xfrm>
          <a:prstGeom prst="rect">
            <a:avLst/>
          </a:prstGeom>
          <a:solidFill>
            <a:srgbClr val="FFFFFF"/>
          </a:solidFill>
          <a:ln w="12700">
            <a:solidFill>
              <a:srgbClr val="E5E2DC"/>
            </a:solidFill>
            <a:prstDash val="solid"/>
          </a:ln>
          <a:effectLst>
            <a:outerShdw sx="100000" sy="100000" kx="0" ky="0" algn="bl" rotWithShape="0" blurRad="50800" dist="25400" dir="8100000">
              <a:srgbClr val="000000">
                <a:alpha val="10000"/>
              </a:srgbClr>
            </a:outerShdw>
          </a:effectLst>
        </p:spPr>
      </p:sp>
      <p:sp>
        <p:nvSpPr>
          <p:cNvPr id="14" name="Shape 12"/>
          <p:cNvSpPr/>
          <p:nvPr/>
        </p:nvSpPr>
        <p:spPr>
          <a:xfrm>
            <a:off x="6126480" y="1188720"/>
            <a:ext cx="2560320" cy="54864"/>
          </a:xfrm>
          <a:prstGeom prst="rect">
            <a:avLst/>
          </a:prstGeom>
          <a:solidFill>
            <a:srgbClr val="2A9D8F"/>
          </a:solidFill>
          <a:ln/>
        </p:spPr>
      </p:sp>
      <p:sp>
        <p:nvSpPr>
          <p:cNvPr id="15" name="Text 13"/>
          <p:cNvSpPr/>
          <p:nvPr/>
        </p:nvSpPr>
        <p:spPr>
          <a:xfrm>
            <a:off x="6263640" y="1325880"/>
            <a:ext cx="2286000" cy="365760"/>
          </a:xfrm>
          <a:prstGeom prst="rect">
            <a:avLst/>
          </a:prstGeom>
          <a:noFill/>
          <a:ln/>
        </p:spPr>
        <p:txBody>
          <a:bodyPr wrap="square"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Effects</a:t>
            </a:r>
            <a:endParaRPr lang="en-US" sz="1400" dirty="0"/>
          </a:p>
        </p:txBody>
      </p:sp>
      <p:sp>
        <p:nvSpPr>
          <p:cNvPr id="16" name="Text 14"/>
          <p:cNvSpPr/>
          <p:nvPr/>
        </p:nvSpPr>
        <p:spPr>
          <a:xfrm>
            <a:off x="6263640" y="1737360"/>
            <a:ext cx="2286000" cy="1097280"/>
          </a:xfrm>
          <a:prstGeom prst="rect">
            <a:avLst/>
          </a:prstGeom>
          <a:noFill/>
          <a:ln/>
        </p:spPr>
        <p:txBody>
          <a:bodyPr wrap="square" rtlCol="0" anchor="t"/>
          <a:lstStyle/>
          <a:p>
            <a:pPr indent="0" marL="0">
              <a:buNone/>
            </a:pPr>
            <a:r>
              <a:rPr lang="en-US" sz="1100" dirty="0">
                <a:solidFill>
                  <a:srgbClr val="3D3A36"/>
                </a:solidFill>
                <a:latin typeface="Calibri" pitchFamily="34" charset="0"/>
                <a:ea typeface="Calibri" pitchFamily="34" charset="-122"/>
                <a:cs typeface="Calibri" pitchFamily="34" charset="-120"/>
              </a:rPr>
              <a:t>Shaking, building collapse, landslides, tsunamis, fires from broken gas pipes. More damage in poorer countries (weaker buildings). Aftershocks can follow for days or weeks.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A9D8F"/>
          </a:solidFill>
          <a:ln/>
        </p:spPr>
      </p:sp>
      <p:sp>
        <p:nvSpPr>
          <p:cNvPr id="3" name="Text 1"/>
          <p:cNvSpPr/>
          <p:nvPr/>
        </p:nvSpPr>
        <p:spPr>
          <a:xfrm>
            <a:off x="7772400" y="4709160"/>
            <a:ext cx="1097280" cy="320040"/>
          </a:xfrm>
          <a:prstGeom prst="rect">
            <a:avLst/>
          </a:prstGeom>
          <a:noFill/>
          <a:ln/>
        </p:spPr>
        <p:txBody>
          <a:bodyPr wrap="square" rtlCol="0" anchor="ctr"/>
          <a:lstStyle/>
          <a:p>
            <a:pPr algn="r" indent="0" marL="0">
              <a:buNone/>
            </a:pPr>
            <a:r>
              <a:rPr lang="en-US" sz="900" dirty="0">
                <a:solidFill>
                  <a:srgbClr val="6B6660"/>
                </a:solidFill>
                <a:latin typeface="Calibri" pitchFamily="34" charset="0"/>
                <a:ea typeface="Calibri" pitchFamily="34" charset="-122"/>
                <a:cs typeface="Calibri" pitchFamily="34" charset="-120"/>
              </a:rPr>
              <a:t>4 / 5</a:t>
            </a:r>
            <a:endParaRPr lang="en-US" sz="900" dirty="0"/>
          </a:p>
        </p:txBody>
      </p:sp>
      <p:sp>
        <p:nvSpPr>
          <p:cNvPr id="4" name="Text 2"/>
          <p:cNvSpPr/>
          <p:nvPr/>
        </p:nvSpPr>
        <p:spPr>
          <a:xfrm>
            <a:off x="457200" y="274320"/>
            <a:ext cx="8229600" cy="640080"/>
          </a:xfrm>
          <a:prstGeom prst="rect">
            <a:avLst/>
          </a:prstGeom>
          <a:noFill/>
          <a:ln/>
        </p:spPr>
        <p:txBody>
          <a:bodyPr wrap="square" rtlCol="0" anchor="ctr"/>
          <a:lstStyle/>
          <a:p>
            <a:pPr indent="0" marL="0">
              <a:buNone/>
            </a:pPr>
            <a:r>
              <a:rPr lang="en-US" sz="2600" b="1" dirty="0">
                <a:solidFill>
                  <a:srgbClr val="1B2A4A"/>
                </a:solidFill>
                <a:latin typeface="Georgia" pitchFamily="34" charset="0"/>
                <a:ea typeface="Georgia" pitchFamily="34" charset="-122"/>
                <a:cs typeface="Georgia" pitchFamily="34" charset="-120"/>
              </a:rPr>
              <a:t>Volcanoes</a:t>
            </a:r>
            <a:endParaRPr lang="en-US" sz="2600" dirty="0"/>
          </a:p>
        </p:txBody>
      </p:sp>
      <p:sp>
        <p:nvSpPr>
          <p:cNvPr id="5" name="Shape 3"/>
          <p:cNvSpPr/>
          <p:nvPr/>
        </p:nvSpPr>
        <p:spPr>
          <a:xfrm>
            <a:off x="457200" y="1188720"/>
            <a:ext cx="2560320" cy="1828800"/>
          </a:xfrm>
          <a:prstGeom prst="rect">
            <a:avLst/>
          </a:prstGeom>
          <a:solidFill>
            <a:srgbClr val="FFFFFF"/>
          </a:solidFill>
          <a:ln w="12700">
            <a:solidFill>
              <a:srgbClr val="E5E2DC"/>
            </a:solidFill>
            <a:prstDash val="solid"/>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2560320" cy="54864"/>
          </a:xfrm>
          <a:prstGeom prst="rect">
            <a:avLst/>
          </a:prstGeom>
          <a:solidFill>
            <a:srgbClr val="2A9D8F"/>
          </a:solidFill>
          <a:ln/>
        </p:spPr>
      </p:sp>
      <p:sp>
        <p:nvSpPr>
          <p:cNvPr id="7" name="Text 5"/>
          <p:cNvSpPr/>
          <p:nvPr/>
        </p:nvSpPr>
        <p:spPr>
          <a:xfrm>
            <a:off x="594360" y="1325880"/>
            <a:ext cx="2286000" cy="365760"/>
          </a:xfrm>
          <a:prstGeom prst="rect">
            <a:avLst/>
          </a:prstGeom>
          <a:noFill/>
          <a:ln/>
        </p:spPr>
        <p:txBody>
          <a:bodyPr wrap="square"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How They Form</a:t>
            </a:r>
            <a:endParaRPr lang="en-US" sz="1400" dirty="0"/>
          </a:p>
        </p:txBody>
      </p:sp>
      <p:sp>
        <p:nvSpPr>
          <p:cNvPr id="8" name="Text 6"/>
          <p:cNvSpPr/>
          <p:nvPr/>
        </p:nvSpPr>
        <p:spPr>
          <a:xfrm>
            <a:off x="594360" y="1737360"/>
            <a:ext cx="2286000" cy="1097280"/>
          </a:xfrm>
          <a:prstGeom prst="rect">
            <a:avLst/>
          </a:prstGeom>
          <a:noFill/>
          <a:ln/>
        </p:spPr>
        <p:txBody>
          <a:bodyPr wrap="square" rtlCol="0" anchor="t"/>
          <a:lstStyle/>
          <a:p>
            <a:pPr indent="0" marL="0">
              <a:buNone/>
            </a:pPr>
            <a:r>
              <a:rPr lang="en-US" sz="1100" dirty="0">
                <a:solidFill>
                  <a:srgbClr val="3D3A36"/>
                </a:solidFill>
                <a:latin typeface="Calibri" pitchFamily="34" charset="0"/>
                <a:ea typeface="Calibri" pitchFamily="34" charset="-122"/>
                <a:cs typeface="Calibri" pitchFamily="34" charset="-120"/>
              </a:rPr>
              <a:t>At convergent boundaries: subducting plate melts → magma rises. At divergent boundaries: magma fills the gap. At hotspots: magma burns through the plate (e.g. Hawaii).</a:t>
            </a:r>
            <a:endParaRPr lang="en-US" sz="1100" dirty="0"/>
          </a:p>
        </p:txBody>
      </p:sp>
      <p:sp>
        <p:nvSpPr>
          <p:cNvPr id="9" name="Shape 7"/>
          <p:cNvSpPr/>
          <p:nvPr/>
        </p:nvSpPr>
        <p:spPr>
          <a:xfrm>
            <a:off x="3291840" y="1188720"/>
            <a:ext cx="2560320" cy="1828800"/>
          </a:xfrm>
          <a:prstGeom prst="rect">
            <a:avLst/>
          </a:prstGeom>
          <a:solidFill>
            <a:srgbClr val="FFFFFF"/>
          </a:solidFill>
          <a:ln w="12700">
            <a:solidFill>
              <a:srgbClr val="E5E2DC"/>
            </a:solidFill>
            <a:prstDash val="solid"/>
          </a:ln>
          <a:effectLst>
            <a:outerShdw sx="100000" sy="100000" kx="0" ky="0" algn="bl" rotWithShape="0" blurRad="50800" dist="25400" dir="8100000">
              <a:srgbClr val="000000">
                <a:alpha val="10000"/>
              </a:srgbClr>
            </a:outerShdw>
          </a:effectLst>
        </p:spPr>
      </p:sp>
      <p:sp>
        <p:nvSpPr>
          <p:cNvPr id="10" name="Shape 8"/>
          <p:cNvSpPr/>
          <p:nvPr/>
        </p:nvSpPr>
        <p:spPr>
          <a:xfrm>
            <a:off x="3291840" y="1188720"/>
            <a:ext cx="2560320" cy="54864"/>
          </a:xfrm>
          <a:prstGeom prst="rect">
            <a:avLst/>
          </a:prstGeom>
          <a:solidFill>
            <a:srgbClr val="2A9D8F"/>
          </a:solidFill>
          <a:ln/>
        </p:spPr>
      </p:sp>
      <p:sp>
        <p:nvSpPr>
          <p:cNvPr id="11" name="Text 9"/>
          <p:cNvSpPr/>
          <p:nvPr/>
        </p:nvSpPr>
        <p:spPr>
          <a:xfrm>
            <a:off x="3429000" y="1325880"/>
            <a:ext cx="2286000" cy="365760"/>
          </a:xfrm>
          <a:prstGeom prst="rect">
            <a:avLst/>
          </a:prstGeom>
          <a:noFill/>
          <a:ln/>
        </p:spPr>
        <p:txBody>
          <a:bodyPr wrap="square"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Types of Eruption</a:t>
            </a:r>
            <a:endParaRPr lang="en-US" sz="1400" dirty="0"/>
          </a:p>
        </p:txBody>
      </p:sp>
      <p:sp>
        <p:nvSpPr>
          <p:cNvPr id="12" name="Text 10"/>
          <p:cNvSpPr/>
          <p:nvPr/>
        </p:nvSpPr>
        <p:spPr>
          <a:xfrm>
            <a:off x="3429000" y="1737360"/>
            <a:ext cx="2286000" cy="1097280"/>
          </a:xfrm>
          <a:prstGeom prst="rect">
            <a:avLst/>
          </a:prstGeom>
          <a:noFill/>
          <a:ln/>
        </p:spPr>
        <p:txBody>
          <a:bodyPr wrap="square" rtlCol="0" anchor="t"/>
          <a:lstStyle/>
          <a:p>
            <a:pPr indent="0" marL="0">
              <a:buNone/>
            </a:pPr>
            <a:r>
              <a:rPr lang="en-US" sz="1100" dirty="0">
                <a:solidFill>
                  <a:srgbClr val="3D3A36"/>
                </a:solidFill>
                <a:latin typeface="Calibri" pitchFamily="34" charset="0"/>
                <a:ea typeface="Calibri" pitchFamily="34" charset="-122"/>
                <a:cs typeface="Calibri" pitchFamily="34" charset="-120"/>
              </a:rPr>
              <a:t>Explosive: thick, sticky lava. Violent eruptions, ash clouds, pyroclastic flows. Example: Mount St. Helens. Effusive: thin, runny lava. Gentle lava flows. Example: Kilauea, Hawaii.</a:t>
            </a:r>
            <a:endParaRPr lang="en-US" sz="1100" dirty="0"/>
          </a:p>
        </p:txBody>
      </p:sp>
      <p:sp>
        <p:nvSpPr>
          <p:cNvPr id="13" name="Shape 11"/>
          <p:cNvSpPr/>
          <p:nvPr/>
        </p:nvSpPr>
        <p:spPr>
          <a:xfrm>
            <a:off x="6126480" y="1188720"/>
            <a:ext cx="2560320" cy="1828800"/>
          </a:xfrm>
          <a:prstGeom prst="rect">
            <a:avLst/>
          </a:prstGeom>
          <a:solidFill>
            <a:srgbClr val="FFFFFF"/>
          </a:solidFill>
          <a:ln w="12700">
            <a:solidFill>
              <a:srgbClr val="E5E2DC"/>
            </a:solidFill>
            <a:prstDash val="solid"/>
          </a:ln>
          <a:effectLst>
            <a:outerShdw sx="100000" sy="100000" kx="0" ky="0" algn="bl" rotWithShape="0" blurRad="50800" dist="25400" dir="8100000">
              <a:srgbClr val="000000">
                <a:alpha val="10000"/>
              </a:srgbClr>
            </a:outerShdw>
          </a:effectLst>
        </p:spPr>
      </p:sp>
      <p:sp>
        <p:nvSpPr>
          <p:cNvPr id="14" name="Shape 12"/>
          <p:cNvSpPr/>
          <p:nvPr/>
        </p:nvSpPr>
        <p:spPr>
          <a:xfrm>
            <a:off x="6126480" y="1188720"/>
            <a:ext cx="2560320" cy="54864"/>
          </a:xfrm>
          <a:prstGeom prst="rect">
            <a:avLst/>
          </a:prstGeom>
          <a:solidFill>
            <a:srgbClr val="2A9D8F"/>
          </a:solidFill>
          <a:ln/>
        </p:spPr>
      </p:sp>
      <p:sp>
        <p:nvSpPr>
          <p:cNvPr id="15" name="Text 13"/>
          <p:cNvSpPr/>
          <p:nvPr/>
        </p:nvSpPr>
        <p:spPr>
          <a:xfrm>
            <a:off x="6263640" y="1325880"/>
            <a:ext cx="2286000" cy="365760"/>
          </a:xfrm>
          <a:prstGeom prst="rect">
            <a:avLst/>
          </a:prstGeom>
          <a:noFill/>
          <a:ln/>
        </p:spPr>
        <p:txBody>
          <a:bodyPr wrap="square"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Benefits</a:t>
            </a:r>
            <a:endParaRPr lang="en-US" sz="1400" dirty="0"/>
          </a:p>
        </p:txBody>
      </p:sp>
      <p:sp>
        <p:nvSpPr>
          <p:cNvPr id="16" name="Text 14"/>
          <p:cNvSpPr/>
          <p:nvPr/>
        </p:nvSpPr>
        <p:spPr>
          <a:xfrm>
            <a:off x="6263640" y="1737360"/>
            <a:ext cx="2286000" cy="1097280"/>
          </a:xfrm>
          <a:prstGeom prst="rect">
            <a:avLst/>
          </a:prstGeom>
          <a:noFill/>
          <a:ln/>
        </p:spPr>
        <p:txBody>
          <a:bodyPr wrap="square" rtlCol="0" anchor="t"/>
          <a:lstStyle/>
          <a:p>
            <a:pPr indent="0" marL="0">
              <a:buNone/>
            </a:pPr>
            <a:r>
              <a:rPr lang="en-US" sz="1100" dirty="0">
                <a:solidFill>
                  <a:srgbClr val="3D3A36"/>
                </a:solidFill>
                <a:latin typeface="Calibri" pitchFamily="34" charset="0"/>
                <a:ea typeface="Calibri" pitchFamily="34" charset="-122"/>
                <a:cs typeface="Calibri" pitchFamily="34" charset="-120"/>
              </a:rPr>
              <a:t>Fertile volcanic soil for farming. Geothermal energy. Minerals and gemstones. Tourism. New land formed.</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E9C46A"/>
          </a:solidFill>
          <a:ln/>
        </p:spPr>
      </p:sp>
      <p:sp>
        <p:nvSpPr>
          <p:cNvPr id="3" name="Text 1"/>
          <p:cNvSpPr/>
          <p:nvPr/>
        </p:nvSpPr>
        <p:spPr>
          <a:xfrm>
            <a:off x="731520" y="457200"/>
            <a:ext cx="7772400" cy="73152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Key Takeaways</a:t>
            </a:r>
            <a:endParaRPr lang="en-US" sz="3200" dirty="0"/>
          </a:p>
        </p:txBody>
      </p:sp>
      <p:sp>
        <p:nvSpPr>
          <p:cNvPr id="4" name="Text 2"/>
          <p:cNvSpPr/>
          <p:nvPr/>
        </p:nvSpPr>
        <p:spPr>
          <a:xfrm>
            <a:off x="731520" y="1463040"/>
            <a:ext cx="7772400" cy="3200400"/>
          </a:xfrm>
          <a:prstGeom prst="rect">
            <a:avLst/>
          </a:prstGeom>
          <a:noFill/>
          <a:ln/>
        </p:spPr>
        <p:txBody>
          <a:bodyPr wrap="square" rtlCol="0" anchor="t"/>
          <a:lstStyle/>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Earthquakes: plates stick → pressure builds → sudden release of seismic waves</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Focus = underground origin; epicentre = surface point above</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Richter scale: each number = ~30× more energy</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Volcanoes form at convergent, divergent, and hotspot locations</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Explosive (thick lava, violent) vs effusive (thin lava, gentle)</a:t>
            </a:r>
            <a:endParaRPr lang="en-US" sz="1500" dirty="0"/>
          </a:p>
        </p:txBody>
      </p:sp>
      <p:sp>
        <p:nvSpPr>
          <p:cNvPr id="5" name="Text 3"/>
          <p:cNvSpPr/>
          <p:nvPr/>
        </p:nvSpPr>
        <p:spPr>
          <a:xfrm>
            <a:off x="731520" y="4572000"/>
            <a:ext cx="7772400" cy="365760"/>
          </a:xfrm>
          <a:prstGeom prst="rect">
            <a:avLst/>
          </a:prstGeom>
          <a:noFill/>
          <a:ln/>
        </p:spPr>
        <p:txBody>
          <a:bodyPr wrap="square" rtlCol="0" anchor="ctr"/>
          <a:lstStyle/>
          <a:p>
            <a:pPr indent="0" marL="0">
              <a:buNone/>
            </a:pPr>
            <a:r>
              <a:rPr lang="en-US" sz="1100" dirty="0">
                <a:solidFill>
                  <a:srgbClr val="E9C46A"/>
                </a:solidFill>
                <a:latin typeface="Calibri" pitchFamily="34" charset="0"/>
                <a:ea typeface="Calibri" pitchFamily="34" charset="-122"/>
                <a:cs typeface="Calibri" pitchFamily="34" charset="-120"/>
              </a:rPr>
              <a:t>mrzocchi.com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Earthquakes &amp; Volcanoes</dc:title>
  <dc:subject>PptxGenJS Presentation</dc:subject>
  <dc:creator>Mr Zocchi</dc:creator>
  <cp:lastModifiedBy>Mr Zocchi</cp:lastModifiedBy>
  <cp:revision>1</cp:revision>
  <dcterms:created xsi:type="dcterms:W3CDTF">2026-03-23T04:01:17Z</dcterms:created>
  <dcterms:modified xsi:type="dcterms:W3CDTF">2026-03-23T04:01:17Z</dcterms:modified>
</cp:coreProperties>
</file>