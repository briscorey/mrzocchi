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2A9D8F"/>
          </a:solidFill>
          <a:ln/>
        </p:spPr>
      </p:sp>
      <p:sp>
        <p:nvSpPr>
          <p:cNvPr id="3" name="Text 1"/>
          <p:cNvSpPr/>
          <p:nvPr/>
        </p:nvSpPr>
        <p:spPr>
          <a:xfrm>
            <a:off x="731520" y="1097280"/>
            <a:ext cx="7772400" cy="1371600"/>
          </a:xfrm>
          <a:prstGeom prst="rect">
            <a:avLst/>
          </a:prstGeom>
          <a:noFill/>
          <a:ln/>
        </p:spPr>
        <p:txBody>
          <a:bodyPr wrap="square" rtlCol="0" anchor="ctr"/>
          <a:lstStyle/>
          <a:p>
            <a:pPr indent="0" marL="0">
              <a:buNone/>
            </a:pPr>
            <a:r>
              <a:rPr lang="en-US" sz="4000" b="1" dirty="0">
                <a:solidFill>
                  <a:srgbClr val="FFFFFF"/>
                </a:solidFill>
                <a:latin typeface="Georgia" pitchFamily="34" charset="0"/>
                <a:ea typeface="Georgia" pitchFamily="34" charset="-122"/>
                <a:cs typeface="Georgia" pitchFamily="34" charset="-120"/>
              </a:rPr>
              <a:t>Rounding &amp; Estimation</a:t>
            </a:r>
            <a:endParaRPr lang="en-US" sz="4000" dirty="0"/>
          </a:p>
        </p:txBody>
      </p:sp>
      <p:sp>
        <p:nvSpPr>
          <p:cNvPr id="4" name="Text 2"/>
          <p:cNvSpPr/>
          <p:nvPr/>
        </p:nvSpPr>
        <p:spPr>
          <a:xfrm>
            <a:off x="731520" y="2560320"/>
            <a:ext cx="7772400" cy="548640"/>
          </a:xfrm>
          <a:prstGeom prst="rect">
            <a:avLst/>
          </a:prstGeom>
          <a:noFill/>
          <a:ln/>
        </p:spPr>
        <p:txBody>
          <a:bodyPr wrap="square" rtlCol="0" anchor="ctr"/>
          <a:lstStyle/>
          <a:p>
            <a:pPr indent="0" marL="0">
              <a:buNone/>
            </a:pPr>
            <a:r>
              <a:rPr lang="en-US" sz="1600" dirty="0">
                <a:solidFill>
                  <a:srgbClr val="E9C46A"/>
                </a:solidFill>
                <a:latin typeface="Calibri" pitchFamily="34" charset="0"/>
                <a:ea typeface="Calibri" pitchFamily="34" charset="-122"/>
                <a:cs typeface="Calibri" pitchFamily="34" charset="-120"/>
              </a:rPr>
              <a:t>Grade 6 Mathematics · Mr Zocchi</a:t>
            </a:r>
            <a:endParaRPr lang="en-US" sz="1600" dirty="0"/>
          </a:p>
        </p:txBody>
      </p:sp>
      <p:sp>
        <p:nvSpPr>
          <p:cNvPr id="5" name="Shape 3"/>
          <p:cNvSpPr/>
          <p:nvPr/>
        </p:nvSpPr>
        <p:spPr>
          <a:xfrm>
            <a:off x="731520" y="3474720"/>
            <a:ext cx="2011680" cy="411480"/>
          </a:xfrm>
          <a:prstGeom prst="roundRect">
            <a:avLst>
              <a:gd name="adj" fmla="val 17778"/>
            </a:avLst>
          </a:prstGeom>
          <a:solidFill>
            <a:srgbClr val="2A9D8F"/>
          </a:solidFill>
          <a:ln/>
        </p:spPr>
      </p:sp>
      <p:sp>
        <p:nvSpPr>
          <p:cNvPr id="6" name="Text 4"/>
          <p:cNvSpPr/>
          <p:nvPr/>
        </p:nvSpPr>
        <p:spPr>
          <a:xfrm>
            <a:off x="731520" y="3474720"/>
            <a:ext cx="2011680" cy="411480"/>
          </a:xfrm>
          <a:prstGeom prst="rect">
            <a:avLst/>
          </a:prstGeom>
          <a:noFill/>
          <a:ln/>
        </p:spPr>
        <p:txBody>
          <a:bodyPr wrap="square"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Term 1 · Number Sense</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2 / 5</a:t>
            </a:r>
            <a:endParaRPr lang="en-US" sz="900" dirty="0"/>
          </a:p>
        </p:txBody>
      </p:sp>
      <p:sp>
        <p:nvSpPr>
          <p:cNvPr id="4" name="Shape 2"/>
          <p:cNvSpPr/>
          <p:nvPr/>
        </p:nvSpPr>
        <p:spPr>
          <a:xfrm>
            <a:off x="1371600" y="914400"/>
            <a:ext cx="6400800" cy="32004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5" name="Shape 3"/>
          <p:cNvSpPr/>
          <p:nvPr/>
        </p:nvSpPr>
        <p:spPr>
          <a:xfrm>
            <a:off x="1371600" y="914400"/>
            <a:ext cx="91440" cy="3200400"/>
          </a:xfrm>
          <a:prstGeom prst="rect">
            <a:avLst/>
          </a:prstGeom>
          <a:solidFill>
            <a:srgbClr val="2A9D8F"/>
          </a:solidFill>
          <a:ln/>
        </p:spPr>
      </p:sp>
      <p:sp>
        <p:nvSpPr>
          <p:cNvPr id="6" name="Text 4"/>
          <p:cNvSpPr/>
          <p:nvPr/>
        </p:nvSpPr>
        <p:spPr>
          <a:xfrm>
            <a:off x="1828800" y="1097280"/>
            <a:ext cx="5669280" cy="640080"/>
          </a:xfrm>
          <a:prstGeom prst="rect">
            <a:avLst/>
          </a:prstGeom>
          <a:noFill/>
          <a:ln/>
        </p:spPr>
        <p:txBody>
          <a:bodyPr wrap="square" rtlCol="0" anchor="ctr"/>
          <a:lstStyle/>
          <a:p>
            <a:pPr indent="0" marL="0">
              <a:buNone/>
            </a:pPr>
            <a:r>
              <a:rPr lang="en-US" sz="2400" b="1" dirty="0">
                <a:solidFill>
                  <a:srgbClr val="1B2A4A"/>
                </a:solidFill>
                <a:latin typeface="Georgia" pitchFamily="34" charset="0"/>
                <a:ea typeface="Georgia" pitchFamily="34" charset="-122"/>
                <a:cs typeface="Georgia" pitchFamily="34" charset="-120"/>
              </a:rPr>
              <a:t>Why Round Numbers?</a:t>
            </a:r>
            <a:endParaRPr lang="en-US" sz="2400" dirty="0"/>
          </a:p>
        </p:txBody>
      </p:sp>
      <p:sp>
        <p:nvSpPr>
          <p:cNvPr id="7" name="Text 5"/>
          <p:cNvSpPr/>
          <p:nvPr/>
        </p:nvSpPr>
        <p:spPr>
          <a:xfrm>
            <a:off x="1828800" y="1828800"/>
            <a:ext cx="5669280" cy="2011680"/>
          </a:xfrm>
          <a:prstGeom prst="rect">
            <a:avLst/>
          </a:prstGeom>
          <a:noFill/>
          <a:ln/>
        </p:spPr>
        <p:txBody>
          <a:bodyPr wrap="square" rtlCol="0" anchor="t"/>
          <a:lstStyle/>
          <a:p>
            <a:pPr indent="0" marL="0">
              <a:lnSpc>
                <a:spcPct val="130000"/>
              </a:lnSpc>
              <a:buNone/>
            </a:pPr>
            <a:r>
              <a:rPr lang="en-US" sz="1500" dirty="0">
                <a:solidFill>
                  <a:srgbClr val="3D3A36"/>
                </a:solidFill>
                <a:latin typeface="Calibri" pitchFamily="34" charset="0"/>
                <a:ea typeface="Calibri" pitchFamily="34" charset="-122"/>
                <a:cs typeface="Calibri" pitchFamily="34" charset="-120"/>
              </a:rPr>
              <a:t>Rounding makes numbers simpler and easier to work with. We round to estimate answers, check calculations, and communicate approximate values. '4,873 people attended' is easier to understand when rounded to 'about 5,000 people'.</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3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Rounding Rules</a:t>
            </a:r>
            <a:endParaRPr lang="en-US" sz="2600" dirty="0"/>
          </a:p>
        </p:txBody>
      </p:sp>
      <p:sp>
        <p:nvSpPr>
          <p:cNvPr id="5" name="Shape 3"/>
          <p:cNvSpPr/>
          <p:nvPr/>
        </p:nvSpPr>
        <p:spPr>
          <a:xfrm>
            <a:off x="45720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2560320" cy="54864"/>
          </a:xfrm>
          <a:prstGeom prst="rect">
            <a:avLst/>
          </a:prstGeom>
          <a:solidFill>
            <a:srgbClr val="2A9D8F"/>
          </a:solidFill>
          <a:ln/>
        </p:spPr>
      </p:sp>
      <p:sp>
        <p:nvSpPr>
          <p:cNvPr id="7" name="Text 5"/>
          <p:cNvSpPr/>
          <p:nvPr/>
        </p:nvSpPr>
        <p:spPr>
          <a:xfrm>
            <a:off x="59436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Step 1: Find</a:t>
            </a:r>
            <a:endParaRPr lang="en-US" sz="1400" dirty="0"/>
          </a:p>
        </p:txBody>
      </p:sp>
      <p:sp>
        <p:nvSpPr>
          <p:cNvPr id="8" name="Text 6"/>
          <p:cNvSpPr/>
          <p:nvPr/>
        </p:nvSpPr>
        <p:spPr>
          <a:xfrm>
            <a:off x="59436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Look at the digit in the place you're rounding to. Example: Round 4,873 to the nearest hundred. The hundreds digit is 8.</a:t>
            </a:r>
            <a:endParaRPr lang="en-US" sz="1100" dirty="0"/>
          </a:p>
        </p:txBody>
      </p:sp>
      <p:sp>
        <p:nvSpPr>
          <p:cNvPr id="9" name="Shape 7"/>
          <p:cNvSpPr/>
          <p:nvPr/>
        </p:nvSpPr>
        <p:spPr>
          <a:xfrm>
            <a:off x="329184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0" name="Shape 8"/>
          <p:cNvSpPr/>
          <p:nvPr/>
        </p:nvSpPr>
        <p:spPr>
          <a:xfrm>
            <a:off x="3291840" y="1188720"/>
            <a:ext cx="2560320" cy="54864"/>
          </a:xfrm>
          <a:prstGeom prst="rect">
            <a:avLst/>
          </a:prstGeom>
          <a:solidFill>
            <a:srgbClr val="2A9D8F"/>
          </a:solidFill>
          <a:ln/>
        </p:spPr>
      </p:sp>
      <p:sp>
        <p:nvSpPr>
          <p:cNvPr id="11" name="Text 9"/>
          <p:cNvSpPr/>
          <p:nvPr/>
        </p:nvSpPr>
        <p:spPr>
          <a:xfrm>
            <a:off x="342900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Step 2: Check</a:t>
            </a:r>
            <a:endParaRPr lang="en-US" sz="1400" dirty="0"/>
          </a:p>
        </p:txBody>
      </p:sp>
      <p:sp>
        <p:nvSpPr>
          <p:cNvPr id="12" name="Text 10"/>
          <p:cNvSpPr/>
          <p:nvPr/>
        </p:nvSpPr>
        <p:spPr>
          <a:xfrm>
            <a:off x="342900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Look at the digit to the RIGHT. If it's 5 or more, round UP. If it's less than 5, round DOWN. The digit to the right of 8 is 7 (≥5), so round up.</a:t>
            </a:r>
            <a:endParaRPr lang="en-US" sz="1100" dirty="0"/>
          </a:p>
        </p:txBody>
      </p:sp>
      <p:sp>
        <p:nvSpPr>
          <p:cNvPr id="13" name="Shape 11"/>
          <p:cNvSpPr/>
          <p:nvPr/>
        </p:nvSpPr>
        <p:spPr>
          <a:xfrm>
            <a:off x="6126480" y="1188720"/>
            <a:ext cx="2560320" cy="182880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14" name="Shape 12"/>
          <p:cNvSpPr/>
          <p:nvPr/>
        </p:nvSpPr>
        <p:spPr>
          <a:xfrm>
            <a:off x="6126480" y="1188720"/>
            <a:ext cx="2560320" cy="54864"/>
          </a:xfrm>
          <a:prstGeom prst="rect">
            <a:avLst/>
          </a:prstGeom>
          <a:solidFill>
            <a:srgbClr val="2A9D8F"/>
          </a:solidFill>
          <a:ln/>
        </p:spPr>
      </p:sp>
      <p:sp>
        <p:nvSpPr>
          <p:cNvPr id="15" name="Text 13"/>
          <p:cNvSpPr/>
          <p:nvPr/>
        </p:nvSpPr>
        <p:spPr>
          <a:xfrm>
            <a:off x="6263640" y="1325880"/>
            <a:ext cx="2286000" cy="365760"/>
          </a:xfrm>
          <a:prstGeom prst="rect">
            <a:avLst/>
          </a:prstGeom>
          <a:noFill/>
          <a:ln/>
        </p:spPr>
        <p:txBody>
          <a:bodyPr wrap="square" rtlCol="0" anchor="ctr"/>
          <a:lstStyle/>
          <a:p>
            <a:pPr indent="0" marL="0">
              <a:buNone/>
            </a:pPr>
            <a:r>
              <a:rPr lang="en-US" sz="1400" b="1" dirty="0">
                <a:solidFill>
                  <a:srgbClr val="1B2A4A"/>
                </a:solidFill>
                <a:latin typeface="Calibri" pitchFamily="34" charset="0"/>
                <a:ea typeface="Calibri" pitchFamily="34" charset="-122"/>
                <a:cs typeface="Calibri" pitchFamily="34" charset="-120"/>
              </a:rPr>
              <a:t>Step 3: Replace</a:t>
            </a:r>
            <a:endParaRPr lang="en-US" sz="1400" dirty="0"/>
          </a:p>
        </p:txBody>
      </p:sp>
      <p:sp>
        <p:nvSpPr>
          <p:cNvPr id="16" name="Text 14"/>
          <p:cNvSpPr/>
          <p:nvPr/>
        </p:nvSpPr>
        <p:spPr>
          <a:xfrm>
            <a:off x="6263640" y="1737360"/>
            <a:ext cx="2286000" cy="1097280"/>
          </a:xfrm>
          <a:prstGeom prst="rect">
            <a:avLst/>
          </a:prstGeom>
          <a:noFill/>
          <a:ln/>
        </p:spPr>
        <p:txBody>
          <a:bodyPr wrap="square" rtlCol="0" anchor="t"/>
          <a:lstStyle/>
          <a:p>
            <a:pPr indent="0" marL="0">
              <a:buNone/>
            </a:pPr>
            <a:r>
              <a:rPr lang="en-US" sz="1100" dirty="0">
                <a:solidFill>
                  <a:srgbClr val="3D3A36"/>
                </a:solidFill>
                <a:latin typeface="Calibri" pitchFamily="34" charset="0"/>
                <a:ea typeface="Calibri" pitchFamily="34" charset="-122"/>
                <a:cs typeface="Calibri" pitchFamily="34" charset="-120"/>
              </a:rPr>
              <a:t>Change all digits to the right to zero. 4,873 → 4,900 (rounded to nearest hundred). The 8 becomes 9, and 7 and 3 become 0.</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8F5"/>
        </a:solidFill>
      </p:bgPr>
    </p:bg>
    <p:spTree>
      <p:nvGrpSpPr>
        <p:cNvPr id="1" name=""/>
        <p:cNvGrpSpPr/>
        <p:nvPr/>
      </p:nvGrpSpPr>
      <p:grpSpPr>
        <a:xfrm>
          <a:off x="0" y="0"/>
          <a:ext cx="0" cy="0"/>
          <a:chOff x="0" y="0"/>
          <a:chExt cx="0" cy="0"/>
        </a:xfrm>
      </p:grpSpPr>
      <p:sp>
        <p:nvSpPr>
          <p:cNvPr id="2" name="Shape 0"/>
          <p:cNvSpPr/>
          <p:nvPr/>
        </p:nvSpPr>
        <p:spPr>
          <a:xfrm>
            <a:off x="0" y="0"/>
            <a:ext cx="9144000" cy="54864"/>
          </a:xfrm>
          <a:prstGeom prst="rect">
            <a:avLst/>
          </a:prstGeom>
          <a:solidFill>
            <a:srgbClr val="2A9D8F"/>
          </a:solidFill>
          <a:ln/>
        </p:spPr>
      </p:sp>
      <p:sp>
        <p:nvSpPr>
          <p:cNvPr id="3" name="Text 1"/>
          <p:cNvSpPr/>
          <p:nvPr/>
        </p:nvSpPr>
        <p:spPr>
          <a:xfrm>
            <a:off x="7772400" y="4709160"/>
            <a:ext cx="1097280" cy="320040"/>
          </a:xfrm>
          <a:prstGeom prst="rect">
            <a:avLst/>
          </a:prstGeom>
          <a:noFill/>
          <a:ln/>
        </p:spPr>
        <p:txBody>
          <a:bodyPr wrap="square" rtlCol="0" anchor="ctr"/>
          <a:lstStyle/>
          <a:p>
            <a:pPr algn="r" indent="0" marL="0">
              <a:buNone/>
            </a:pPr>
            <a:r>
              <a:rPr lang="en-US" sz="900" dirty="0">
                <a:solidFill>
                  <a:srgbClr val="6B6660"/>
                </a:solidFill>
                <a:latin typeface="Calibri" pitchFamily="34" charset="0"/>
                <a:ea typeface="Calibri" pitchFamily="34" charset="-122"/>
                <a:cs typeface="Calibri" pitchFamily="34" charset="-120"/>
              </a:rPr>
              <a:t>4 / 5</a:t>
            </a:r>
            <a:endParaRPr lang="en-US" sz="900" dirty="0"/>
          </a:p>
        </p:txBody>
      </p:sp>
      <p:sp>
        <p:nvSpPr>
          <p:cNvPr id="4" name="Text 2"/>
          <p:cNvSpPr/>
          <p:nvPr/>
        </p:nvSpPr>
        <p:spPr>
          <a:xfrm>
            <a:off x="457200" y="274320"/>
            <a:ext cx="8229600" cy="640080"/>
          </a:xfrm>
          <a:prstGeom prst="rect">
            <a:avLst/>
          </a:prstGeom>
          <a:noFill/>
          <a:ln/>
        </p:spPr>
        <p:txBody>
          <a:bodyPr wrap="square" rtlCol="0" anchor="ctr"/>
          <a:lstStyle/>
          <a:p>
            <a:pPr indent="0" marL="0">
              <a:buNone/>
            </a:pPr>
            <a:r>
              <a:rPr lang="en-US" sz="2600" b="1" dirty="0">
                <a:solidFill>
                  <a:srgbClr val="1B2A4A"/>
                </a:solidFill>
                <a:latin typeface="Georgia" pitchFamily="34" charset="0"/>
                <a:ea typeface="Georgia" pitchFamily="34" charset="-122"/>
                <a:cs typeface="Georgia" pitchFamily="34" charset="-120"/>
              </a:rPr>
              <a:t>Examples</a:t>
            </a:r>
            <a:endParaRPr lang="en-US" sz="2600" dirty="0"/>
          </a:p>
        </p:txBody>
      </p:sp>
      <p:sp>
        <p:nvSpPr>
          <p:cNvPr id="5" name="Text 3"/>
          <p:cNvSpPr/>
          <p:nvPr/>
        </p:nvSpPr>
        <p:spPr>
          <a:xfrm>
            <a:off x="457200" y="1188720"/>
            <a:ext cx="3840480" cy="3474720"/>
          </a:xfrm>
          <a:prstGeom prst="rect">
            <a:avLst/>
          </a:prstGeom>
          <a:noFill/>
          <a:ln/>
        </p:spPr>
        <p:txBody>
          <a:bodyPr wrap="square" rtlCol="0" anchor="t"/>
          <a:lstStyle/>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3,456 → nearest 10 = 3,460 (check 6 ≥ 5: round up)</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3,456 → nearest 100 = 3,500 (check 5 ≥ 5: round up)</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3,456 → nearest 1000 = 3,000 (check 4 &lt; 5: round down)</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7.83 → nearest whole = 8 (check 8 ≥ 5: round up)</a:t>
            </a:r>
            <a:endParaRPr lang="en-US" sz="1400" dirty="0"/>
          </a:p>
          <a:p>
            <a:pPr marL="342900" indent="-342900">
              <a:spcAft>
                <a:spcPts val="600"/>
              </a:spcAft>
              <a:buSzPct val="100000"/>
              <a:buChar char="•"/>
            </a:pPr>
            <a:r>
              <a:rPr lang="en-US" sz="1400" dirty="0">
                <a:solidFill>
                  <a:srgbClr val="3D3A36"/>
                </a:solidFill>
                <a:latin typeface="Calibri" pitchFamily="34" charset="0"/>
                <a:ea typeface="Calibri" pitchFamily="34" charset="-122"/>
                <a:cs typeface="Calibri" pitchFamily="34" charset="-120"/>
              </a:rPr>
              <a:t>12.347 → 1 dp = 12.3 (check 4 &lt; 5: round down)</a:t>
            </a:r>
            <a:endParaRPr lang="en-US" sz="1400" dirty="0"/>
          </a:p>
        </p:txBody>
      </p:sp>
      <p:sp>
        <p:nvSpPr>
          <p:cNvPr id="6" name="Shape 4"/>
          <p:cNvSpPr/>
          <p:nvPr/>
        </p:nvSpPr>
        <p:spPr>
          <a:xfrm>
            <a:off x="4846320" y="1188720"/>
            <a:ext cx="3840480" cy="3474720"/>
          </a:xfrm>
          <a:prstGeom prst="rect">
            <a:avLst/>
          </a:prstGeom>
          <a:solidFill>
            <a:srgbClr val="FFFFFF"/>
          </a:solidFill>
          <a:ln w="12700">
            <a:solidFill>
              <a:srgbClr val="E5E2DC"/>
            </a:solidFill>
            <a:prstDash val="solid"/>
          </a:ln>
          <a:effectLst>
            <a:outerShdw sx="100000" sy="100000" kx="0" ky="0" algn="bl" rotWithShape="0" blurRad="50800" dist="25400" dir="8100000">
              <a:srgbClr val="000000">
                <a:alpha val="10000"/>
              </a:srgbClr>
            </a:outerShdw>
          </a:effectLst>
        </p:spPr>
      </p:sp>
      <p:sp>
        <p:nvSpPr>
          <p:cNvPr id="7" name="Shape 5"/>
          <p:cNvSpPr/>
          <p:nvPr/>
        </p:nvSpPr>
        <p:spPr>
          <a:xfrm>
            <a:off x="4846320" y="1188720"/>
            <a:ext cx="3840480" cy="54864"/>
          </a:xfrm>
          <a:prstGeom prst="rect">
            <a:avLst/>
          </a:prstGeom>
          <a:solidFill>
            <a:srgbClr val="2A9D8F"/>
          </a:solidFill>
          <a:ln/>
        </p:spPr>
      </p:sp>
      <p:sp>
        <p:nvSpPr>
          <p:cNvPr id="8" name="Text 6"/>
          <p:cNvSpPr/>
          <p:nvPr/>
        </p:nvSpPr>
        <p:spPr>
          <a:xfrm>
            <a:off x="5120640" y="1371600"/>
            <a:ext cx="3291840" cy="3108960"/>
          </a:xfrm>
          <a:prstGeom prst="rect">
            <a:avLst/>
          </a:prstGeom>
          <a:noFill/>
          <a:ln/>
        </p:spPr>
        <p:txBody>
          <a:bodyPr wrap="square" rtlCol="0" anchor="t"/>
          <a:lstStyle/>
          <a:p>
            <a:pPr indent="0" marL="0">
              <a:spcAft>
                <a:spcPts val="400"/>
              </a:spcAft>
              <a:buNone/>
            </a:pPr>
            <a:r>
              <a:rPr lang="en-US" sz="1600" b="1" dirty="0">
                <a:solidFill>
                  <a:srgbClr val="1B2A4A"/>
                </a:solidFill>
                <a:latin typeface="Calibri" pitchFamily="34" charset="0"/>
                <a:ea typeface="Calibri" pitchFamily="34" charset="-122"/>
                <a:cs typeface="Calibri" pitchFamily="34" charset="-120"/>
              </a:rPr>
              <a:t>Estimation</a:t>
            </a:r>
            <a:endParaRPr lang="en-US" sz="1600" dirty="0"/>
          </a:p>
          <a:p>
            <a:pPr indent="0" marL="0">
              <a:spcAft>
                <a:spcPts val="400"/>
              </a:spcAft>
              <a:buNone/>
            </a:pP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Estimate by rounding each number before calculating</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67 × 42 ≈ 70 × 40 = 2,800</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Check: actual answer is 2,814 — close!</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892 + 3,107 ≈ 900 + 3,100 = 4,000</a:t>
            </a:r>
            <a:endParaRPr lang="en-US" sz="1600" dirty="0"/>
          </a:p>
          <a:p>
            <a:pPr indent="0" marL="0">
              <a:spcAft>
                <a:spcPts val="400"/>
              </a:spcAft>
              <a:buNone/>
            </a:pPr>
            <a:r>
              <a:rPr lang="en-US" sz="1300" dirty="0">
                <a:solidFill>
                  <a:srgbClr val="3D3A36"/>
                </a:solidFill>
                <a:latin typeface="Calibri" pitchFamily="34" charset="0"/>
                <a:ea typeface="Calibri" pitchFamily="34" charset="-122"/>
                <a:cs typeface="Calibri" pitchFamily="34" charset="-120"/>
              </a:rPr>
              <a:t>Estimation helps you spot calculator mistakes</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B2A4A"/>
        </a:solidFill>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E9C46A"/>
          </a:solidFill>
          <a:ln/>
        </p:spPr>
      </p:sp>
      <p:sp>
        <p:nvSpPr>
          <p:cNvPr id="3" name="Text 1"/>
          <p:cNvSpPr/>
          <p:nvPr/>
        </p:nvSpPr>
        <p:spPr>
          <a:xfrm>
            <a:off x="731520" y="457200"/>
            <a:ext cx="7772400" cy="731520"/>
          </a:xfrm>
          <a:prstGeom prst="rect">
            <a:avLst/>
          </a:prstGeom>
          <a:noFill/>
          <a:ln/>
        </p:spPr>
        <p:txBody>
          <a:bodyPr wrap="square" rtlCol="0" anchor="ctr"/>
          <a:lstStyle/>
          <a:p>
            <a:pPr indent="0" marL="0">
              <a:buNone/>
            </a:pPr>
            <a:r>
              <a:rPr lang="en-US" sz="3200" b="1" dirty="0">
                <a:solidFill>
                  <a:srgbClr val="FFFFFF"/>
                </a:solidFill>
                <a:latin typeface="Georgia" pitchFamily="34" charset="0"/>
                <a:ea typeface="Georgia" pitchFamily="34" charset="-122"/>
                <a:cs typeface="Georgia" pitchFamily="34" charset="-120"/>
              </a:rPr>
              <a:t>Key Takeaways</a:t>
            </a:r>
            <a:endParaRPr lang="en-US" sz="3200" dirty="0"/>
          </a:p>
        </p:txBody>
      </p:sp>
      <p:sp>
        <p:nvSpPr>
          <p:cNvPr id="4" name="Text 2"/>
          <p:cNvSpPr/>
          <p:nvPr/>
        </p:nvSpPr>
        <p:spPr>
          <a:xfrm>
            <a:off x="731520" y="1463040"/>
            <a:ext cx="7772400" cy="3200400"/>
          </a:xfrm>
          <a:prstGeom prst="rect">
            <a:avLst/>
          </a:prstGeom>
          <a:noFill/>
          <a:ln/>
        </p:spPr>
        <p:txBody>
          <a:bodyPr wrap="square" rtlCol="0" anchor="t"/>
          <a:lstStyle/>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Round to make numbers simpler; look at digit to the right</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5 or more → round up; less than 5 → round down</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Replace all digits to the right with zeros</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Estimation: round first, then calculate</a:t>
            </a:r>
            <a:endParaRPr lang="en-US" sz="1500" dirty="0"/>
          </a:p>
          <a:p>
            <a:pPr marL="342900" indent="-342900">
              <a:spcAft>
                <a:spcPts val="1000"/>
              </a:spcAft>
              <a:buSzPct val="100000"/>
              <a:buChar char="•"/>
            </a:pPr>
            <a:r>
              <a:rPr lang="en-US" sz="1500" dirty="0">
                <a:solidFill>
                  <a:srgbClr val="CADCFC"/>
                </a:solidFill>
                <a:latin typeface="Calibri" pitchFamily="34" charset="0"/>
                <a:ea typeface="Calibri" pitchFamily="34" charset="-122"/>
                <a:cs typeface="Calibri" pitchFamily="34" charset="-120"/>
              </a:rPr>
              <a:t>Use estimation to check if your answer is reasonable</a:t>
            </a:r>
            <a:endParaRPr lang="en-US" sz="1500" dirty="0"/>
          </a:p>
        </p:txBody>
      </p:sp>
      <p:sp>
        <p:nvSpPr>
          <p:cNvPr id="5" name="Text 3"/>
          <p:cNvSpPr/>
          <p:nvPr/>
        </p:nvSpPr>
        <p:spPr>
          <a:xfrm>
            <a:off x="731520" y="4572000"/>
            <a:ext cx="7772400" cy="365760"/>
          </a:xfrm>
          <a:prstGeom prst="rect">
            <a:avLst/>
          </a:prstGeom>
          <a:noFill/>
          <a:ln/>
        </p:spPr>
        <p:txBody>
          <a:bodyPr wrap="square" rtlCol="0" anchor="ctr"/>
          <a:lstStyle/>
          <a:p>
            <a:pPr indent="0" marL="0">
              <a:buNone/>
            </a:pPr>
            <a:r>
              <a:rPr lang="en-US" sz="1100" dirty="0">
                <a:solidFill>
                  <a:srgbClr val="E9C46A"/>
                </a:solidFill>
                <a:latin typeface="Calibri" pitchFamily="34" charset="0"/>
                <a:ea typeface="Calibri" pitchFamily="34" charset="-122"/>
                <a:cs typeface="Calibri" pitchFamily="34" charset="-120"/>
              </a:rPr>
              <a:t>mrzocchi.com</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Rounding &amp; Estimation</dc:title>
  <dc:subject>PptxGenJS Presentation</dc:subject>
  <dc:creator>Mr Zocchi</dc:creator>
  <cp:lastModifiedBy>Mr Zocchi</cp:lastModifiedBy>
  <cp:revision>1</cp:revision>
  <dcterms:created xsi:type="dcterms:W3CDTF">2026-03-23T04:01:17Z</dcterms:created>
  <dcterms:modified xsi:type="dcterms:W3CDTF">2026-03-23T04:01:17Z</dcterms:modified>
</cp:coreProperties>
</file>