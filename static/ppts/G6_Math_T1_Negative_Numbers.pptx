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2A9D8F"/>
          </a:solidFill>
          <a:ln/>
        </p:spPr>
      </p:sp>
      <p:sp>
        <p:nvSpPr>
          <p:cNvPr id="3" name="Text 1"/>
          <p:cNvSpPr/>
          <p:nvPr/>
        </p:nvSpPr>
        <p:spPr>
          <a:xfrm>
            <a:off x="731520" y="1097280"/>
            <a:ext cx="7772400" cy="13716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Negative Numbers</a:t>
            </a:r>
            <a:endParaRPr lang="en-US" sz="4000" dirty="0"/>
          </a:p>
        </p:txBody>
      </p:sp>
      <p:sp>
        <p:nvSpPr>
          <p:cNvPr id="4" name="Text 2"/>
          <p:cNvSpPr/>
          <p:nvPr/>
        </p:nvSpPr>
        <p:spPr>
          <a:xfrm>
            <a:off x="731520" y="2560320"/>
            <a:ext cx="7772400" cy="548640"/>
          </a:xfrm>
          <a:prstGeom prst="rect">
            <a:avLst/>
          </a:prstGeom>
          <a:noFill/>
          <a:ln/>
        </p:spPr>
        <p:txBody>
          <a:bodyPr wrap="square" rtlCol="0" anchor="ctr"/>
          <a:lstStyle/>
          <a:p>
            <a:pPr indent="0" marL="0">
              <a:buNone/>
            </a:pPr>
            <a:r>
              <a:rPr lang="en-US" sz="1600" dirty="0">
                <a:solidFill>
                  <a:srgbClr val="E9C46A"/>
                </a:solidFill>
                <a:latin typeface="Calibri" pitchFamily="34" charset="0"/>
                <a:ea typeface="Calibri" pitchFamily="34" charset="-122"/>
                <a:cs typeface="Calibri" pitchFamily="34" charset="-120"/>
              </a:rPr>
              <a:t>Grade 6 Mathematics · Mr Zocchi</a:t>
            </a:r>
            <a:endParaRPr lang="en-US" sz="1600" dirty="0"/>
          </a:p>
        </p:txBody>
      </p:sp>
      <p:sp>
        <p:nvSpPr>
          <p:cNvPr id="5" name="Shape 3"/>
          <p:cNvSpPr/>
          <p:nvPr/>
        </p:nvSpPr>
        <p:spPr>
          <a:xfrm>
            <a:off x="731520" y="3474720"/>
            <a:ext cx="2011680" cy="411480"/>
          </a:xfrm>
          <a:prstGeom prst="roundRect">
            <a:avLst>
              <a:gd name="adj" fmla="val 17778"/>
            </a:avLst>
          </a:prstGeom>
          <a:solidFill>
            <a:srgbClr val="2A9D8F"/>
          </a:solidFill>
          <a:ln/>
        </p:spPr>
      </p:sp>
      <p:sp>
        <p:nvSpPr>
          <p:cNvPr id="6" name="Text 4"/>
          <p:cNvSpPr/>
          <p:nvPr/>
        </p:nvSpPr>
        <p:spPr>
          <a:xfrm>
            <a:off x="731520" y="3474720"/>
            <a:ext cx="2011680" cy="41148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Term 1 · Number Sense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A9D8F"/>
          </a:solidFill>
          <a:ln/>
        </p:spPr>
      </p:sp>
      <p:sp>
        <p:nvSpPr>
          <p:cNvPr id="3" name="Text 1"/>
          <p:cNvSpPr/>
          <p:nvPr/>
        </p:nvSpPr>
        <p:spPr>
          <a:xfrm>
            <a:off x="7772400" y="4709160"/>
            <a:ext cx="1097280" cy="320040"/>
          </a:xfrm>
          <a:prstGeom prst="rect">
            <a:avLst/>
          </a:prstGeom>
          <a:noFill/>
          <a:ln/>
        </p:spPr>
        <p:txBody>
          <a:bodyPr wrap="square" rtlCol="0" anchor="ctr"/>
          <a:lstStyle/>
          <a:p>
            <a:pPr algn="r" indent="0" marL="0">
              <a:buNone/>
            </a:pPr>
            <a:r>
              <a:rPr lang="en-US" sz="900" dirty="0">
                <a:solidFill>
                  <a:srgbClr val="6B6660"/>
                </a:solidFill>
                <a:latin typeface="Calibri" pitchFamily="34" charset="0"/>
                <a:ea typeface="Calibri" pitchFamily="34" charset="-122"/>
                <a:cs typeface="Calibri" pitchFamily="34" charset="-120"/>
              </a:rPr>
              <a:t>2 / 5</a:t>
            </a:r>
            <a:endParaRPr lang="en-US" sz="900" dirty="0"/>
          </a:p>
        </p:txBody>
      </p:sp>
      <p:sp>
        <p:nvSpPr>
          <p:cNvPr id="4" name="Shape 2"/>
          <p:cNvSpPr/>
          <p:nvPr/>
        </p:nvSpPr>
        <p:spPr>
          <a:xfrm>
            <a:off x="1371600" y="914400"/>
            <a:ext cx="6400800" cy="32004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5" name="Shape 3"/>
          <p:cNvSpPr/>
          <p:nvPr/>
        </p:nvSpPr>
        <p:spPr>
          <a:xfrm>
            <a:off x="1371600" y="914400"/>
            <a:ext cx="91440" cy="3200400"/>
          </a:xfrm>
          <a:prstGeom prst="rect">
            <a:avLst/>
          </a:prstGeom>
          <a:solidFill>
            <a:srgbClr val="2A9D8F"/>
          </a:solidFill>
          <a:ln/>
        </p:spPr>
      </p:sp>
      <p:sp>
        <p:nvSpPr>
          <p:cNvPr id="6" name="Text 4"/>
          <p:cNvSpPr/>
          <p:nvPr/>
        </p:nvSpPr>
        <p:spPr>
          <a:xfrm>
            <a:off x="1828800" y="1097280"/>
            <a:ext cx="5669280" cy="640080"/>
          </a:xfrm>
          <a:prstGeom prst="rect">
            <a:avLst/>
          </a:prstGeom>
          <a:noFill/>
          <a:ln/>
        </p:spPr>
        <p:txBody>
          <a:bodyPr wrap="square" rtlCol="0" anchor="ctr"/>
          <a:lstStyle/>
          <a:p>
            <a:pPr indent="0" marL="0">
              <a:buNone/>
            </a:pPr>
            <a:r>
              <a:rPr lang="en-US" sz="2400" b="1" dirty="0">
                <a:solidFill>
                  <a:srgbClr val="1B2A4A"/>
                </a:solidFill>
                <a:latin typeface="Georgia" pitchFamily="34" charset="0"/>
                <a:ea typeface="Georgia" pitchFamily="34" charset="-122"/>
                <a:cs typeface="Georgia" pitchFamily="34" charset="-120"/>
              </a:rPr>
              <a:t>Numbers Below Zero</a:t>
            </a:r>
            <a:endParaRPr lang="en-US" sz="2400" dirty="0"/>
          </a:p>
        </p:txBody>
      </p:sp>
      <p:sp>
        <p:nvSpPr>
          <p:cNvPr id="7" name="Text 5"/>
          <p:cNvSpPr/>
          <p:nvPr/>
        </p:nvSpPr>
        <p:spPr>
          <a:xfrm>
            <a:off x="1828800" y="1828800"/>
            <a:ext cx="5669280" cy="2011680"/>
          </a:xfrm>
          <a:prstGeom prst="rect">
            <a:avLst/>
          </a:prstGeom>
          <a:noFill/>
          <a:ln/>
        </p:spPr>
        <p:txBody>
          <a:bodyPr wrap="square" rtlCol="0" anchor="t"/>
          <a:lstStyle/>
          <a:p>
            <a:pPr indent="0" marL="0">
              <a:lnSpc>
                <a:spcPct val="130000"/>
              </a:lnSpc>
              <a:buNone/>
            </a:pPr>
            <a:r>
              <a:rPr lang="en-US" sz="1500" dirty="0">
                <a:solidFill>
                  <a:srgbClr val="3D3A36"/>
                </a:solidFill>
                <a:latin typeface="Calibri" pitchFamily="34" charset="0"/>
                <a:ea typeface="Calibri" pitchFamily="34" charset="-122"/>
                <a:cs typeface="Calibri" pitchFamily="34" charset="-120"/>
              </a:rPr>
              <a:t>Negative numbers are numbers less than zero. They appear on the left side of the number line. We use them for temperatures below freezing, debts, floors below ground level, and many other real-world situations. The further left on the number line, the smaller the number: −10 &lt; −3.</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A9D8F"/>
          </a:solidFill>
          <a:ln/>
        </p:spPr>
      </p:sp>
      <p:sp>
        <p:nvSpPr>
          <p:cNvPr id="3" name="Text 1"/>
          <p:cNvSpPr/>
          <p:nvPr/>
        </p:nvSpPr>
        <p:spPr>
          <a:xfrm>
            <a:off x="7772400" y="4709160"/>
            <a:ext cx="1097280" cy="320040"/>
          </a:xfrm>
          <a:prstGeom prst="rect">
            <a:avLst/>
          </a:prstGeom>
          <a:noFill/>
          <a:ln/>
        </p:spPr>
        <p:txBody>
          <a:bodyPr wrap="square" rtlCol="0" anchor="ctr"/>
          <a:lstStyle/>
          <a:p>
            <a:pPr algn="r" indent="0" marL="0">
              <a:buNone/>
            </a:pPr>
            <a:r>
              <a:rPr lang="en-US" sz="900" dirty="0">
                <a:solidFill>
                  <a:srgbClr val="6B6660"/>
                </a:solidFill>
                <a:latin typeface="Calibri" pitchFamily="34" charset="0"/>
                <a:ea typeface="Calibri" pitchFamily="34" charset="-122"/>
                <a:cs typeface="Calibri" pitchFamily="34" charset="-120"/>
              </a:rPr>
              <a:t>3 / 5</a:t>
            </a:r>
            <a:endParaRPr lang="en-US" sz="900" dirty="0"/>
          </a:p>
        </p:txBody>
      </p:sp>
      <p:sp>
        <p:nvSpPr>
          <p:cNvPr id="4" name="Text 2"/>
          <p:cNvSpPr/>
          <p:nvPr/>
        </p:nvSpPr>
        <p:spPr>
          <a:xfrm>
            <a:off x="457200" y="274320"/>
            <a:ext cx="8229600" cy="640080"/>
          </a:xfrm>
          <a:prstGeom prst="rect">
            <a:avLst/>
          </a:prstGeom>
          <a:noFill/>
          <a:ln/>
        </p:spPr>
        <p:txBody>
          <a:bodyPr wrap="square" rtlCol="0" anchor="ctr"/>
          <a:lstStyle/>
          <a:p>
            <a:pPr indent="0" marL="0">
              <a:buNone/>
            </a:pPr>
            <a:r>
              <a:rPr lang="en-US" sz="2600" b="1" dirty="0">
                <a:solidFill>
                  <a:srgbClr val="1B2A4A"/>
                </a:solidFill>
                <a:latin typeface="Georgia" pitchFamily="34" charset="0"/>
                <a:ea typeface="Georgia" pitchFamily="34" charset="-122"/>
                <a:cs typeface="Georgia" pitchFamily="34" charset="-120"/>
              </a:rPr>
              <a:t>The Number Line</a:t>
            </a:r>
            <a:endParaRPr lang="en-US" sz="2600" dirty="0"/>
          </a:p>
        </p:txBody>
      </p:sp>
      <p:sp>
        <p:nvSpPr>
          <p:cNvPr id="5" name="Text 3"/>
          <p:cNvSpPr/>
          <p:nvPr/>
        </p:nvSpPr>
        <p:spPr>
          <a:xfrm>
            <a:off x="457200" y="1188720"/>
            <a:ext cx="3840480" cy="3474720"/>
          </a:xfrm>
          <a:prstGeom prst="rect">
            <a:avLst/>
          </a:prstGeom>
          <a:noFill/>
          <a:ln/>
        </p:spPr>
        <p:txBody>
          <a:bodyPr wrap="square" rtlCol="0" anchor="t"/>
          <a:lstStyle/>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 −5, −4, −3, −2, −1, 0, 1, 2, 3, 4, 5 ...</a:t>
            </a:r>
            <a:endParaRPr lang="en-US" sz="1400" dirty="0"/>
          </a:p>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Zero is neither positive nor negative</a:t>
            </a:r>
            <a:endParaRPr lang="en-US" sz="1400" dirty="0"/>
          </a:p>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−3 is 'negative three' (not 'minus three')</a:t>
            </a:r>
            <a:endParaRPr lang="en-US" sz="1400" dirty="0"/>
          </a:p>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−7 &lt; −2 (−7 is further from zero, so it's smaller)</a:t>
            </a:r>
            <a:endParaRPr lang="en-US" sz="1400" dirty="0"/>
          </a:p>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The number line extends infinitely in both directions</a:t>
            </a:r>
            <a:endParaRPr lang="en-US" sz="1400" dirty="0"/>
          </a:p>
        </p:txBody>
      </p:sp>
      <p:sp>
        <p:nvSpPr>
          <p:cNvPr id="6" name="Shape 4"/>
          <p:cNvSpPr/>
          <p:nvPr/>
        </p:nvSpPr>
        <p:spPr>
          <a:xfrm>
            <a:off x="4846320" y="1188720"/>
            <a:ext cx="3840480" cy="347472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7" name="Shape 5"/>
          <p:cNvSpPr/>
          <p:nvPr/>
        </p:nvSpPr>
        <p:spPr>
          <a:xfrm>
            <a:off x="4846320" y="1188720"/>
            <a:ext cx="3840480" cy="54864"/>
          </a:xfrm>
          <a:prstGeom prst="rect">
            <a:avLst/>
          </a:prstGeom>
          <a:solidFill>
            <a:srgbClr val="2A9D8F"/>
          </a:solidFill>
          <a:ln/>
        </p:spPr>
      </p:sp>
      <p:sp>
        <p:nvSpPr>
          <p:cNvPr id="8" name="Text 6"/>
          <p:cNvSpPr/>
          <p:nvPr/>
        </p:nvSpPr>
        <p:spPr>
          <a:xfrm>
            <a:off x="5120640" y="1371600"/>
            <a:ext cx="3291840" cy="3108960"/>
          </a:xfrm>
          <a:prstGeom prst="rect">
            <a:avLst/>
          </a:prstGeom>
          <a:noFill/>
          <a:ln/>
        </p:spPr>
        <p:txBody>
          <a:bodyPr wrap="square" rtlCol="0" anchor="t"/>
          <a:lstStyle/>
          <a:p>
            <a:pPr indent="0" marL="0">
              <a:spcAft>
                <a:spcPts val="400"/>
              </a:spcAft>
              <a:buNone/>
            </a:pPr>
            <a:r>
              <a:rPr lang="en-US" sz="1600" b="1" dirty="0">
                <a:solidFill>
                  <a:srgbClr val="1B2A4A"/>
                </a:solidFill>
                <a:latin typeface="Calibri" pitchFamily="34" charset="0"/>
                <a:ea typeface="Calibri" pitchFamily="34" charset="-122"/>
                <a:cs typeface="Calibri" pitchFamily="34" charset="-120"/>
              </a:rPr>
              <a:t>Real-World Examples</a:t>
            </a:r>
            <a:endParaRPr lang="en-US" sz="1600" dirty="0"/>
          </a:p>
          <a:p>
            <a:pPr indent="0" marL="0">
              <a:spcAft>
                <a:spcPts val="400"/>
              </a:spcAft>
              <a:buNone/>
            </a:pP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Temperature: −15°C means 15 degrees below freezing</a:t>
            </a: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Bank balance: −$50 means you owe $50</a:t>
            </a: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Altitude: −100m means 100 metres below sea level</a:t>
            </a: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Underground floors: floor −2 is two floors below ground</a:t>
            </a: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Golf: −3 means 3 under par</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A9D8F"/>
          </a:solidFill>
          <a:ln/>
        </p:spPr>
      </p:sp>
      <p:sp>
        <p:nvSpPr>
          <p:cNvPr id="3" name="Text 1"/>
          <p:cNvSpPr/>
          <p:nvPr/>
        </p:nvSpPr>
        <p:spPr>
          <a:xfrm>
            <a:off x="7772400" y="4709160"/>
            <a:ext cx="1097280" cy="320040"/>
          </a:xfrm>
          <a:prstGeom prst="rect">
            <a:avLst/>
          </a:prstGeom>
          <a:noFill/>
          <a:ln/>
        </p:spPr>
        <p:txBody>
          <a:bodyPr wrap="square" rtlCol="0" anchor="ctr"/>
          <a:lstStyle/>
          <a:p>
            <a:pPr algn="r" indent="0" marL="0">
              <a:buNone/>
            </a:pPr>
            <a:r>
              <a:rPr lang="en-US" sz="900" dirty="0">
                <a:solidFill>
                  <a:srgbClr val="6B6660"/>
                </a:solidFill>
                <a:latin typeface="Calibri" pitchFamily="34" charset="0"/>
                <a:ea typeface="Calibri" pitchFamily="34" charset="-122"/>
                <a:cs typeface="Calibri" pitchFamily="34" charset="-120"/>
              </a:rPr>
              <a:t>4 / 5</a:t>
            </a:r>
            <a:endParaRPr lang="en-US" sz="900" dirty="0"/>
          </a:p>
        </p:txBody>
      </p:sp>
      <p:sp>
        <p:nvSpPr>
          <p:cNvPr id="4" name="Text 2"/>
          <p:cNvSpPr/>
          <p:nvPr/>
        </p:nvSpPr>
        <p:spPr>
          <a:xfrm>
            <a:off x="457200" y="274320"/>
            <a:ext cx="8229600" cy="640080"/>
          </a:xfrm>
          <a:prstGeom prst="rect">
            <a:avLst/>
          </a:prstGeom>
          <a:noFill/>
          <a:ln/>
        </p:spPr>
        <p:txBody>
          <a:bodyPr wrap="square" rtlCol="0" anchor="ctr"/>
          <a:lstStyle/>
          <a:p>
            <a:pPr indent="0" marL="0">
              <a:buNone/>
            </a:pPr>
            <a:r>
              <a:rPr lang="en-US" sz="2600" b="1" dirty="0">
                <a:solidFill>
                  <a:srgbClr val="1B2A4A"/>
                </a:solidFill>
                <a:latin typeface="Georgia" pitchFamily="34" charset="0"/>
                <a:ea typeface="Georgia" pitchFamily="34" charset="-122"/>
                <a:cs typeface="Georgia" pitchFamily="34" charset="-120"/>
              </a:rPr>
              <a:t>Operations with Negatives</a:t>
            </a:r>
            <a:endParaRPr lang="en-US" sz="2600" dirty="0"/>
          </a:p>
        </p:txBody>
      </p:sp>
      <p:sp>
        <p:nvSpPr>
          <p:cNvPr id="5" name="Shape 3"/>
          <p:cNvSpPr/>
          <p:nvPr/>
        </p:nvSpPr>
        <p:spPr>
          <a:xfrm>
            <a:off x="457200" y="1188720"/>
            <a:ext cx="2560320" cy="18288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2560320" cy="54864"/>
          </a:xfrm>
          <a:prstGeom prst="rect">
            <a:avLst/>
          </a:prstGeom>
          <a:solidFill>
            <a:srgbClr val="2A9D8F"/>
          </a:solidFill>
          <a:ln/>
        </p:spPr>
      </p:sp>
      <p:sp>
        <p:nvSpPr>
          <p:cNvPr id="7" name="Text 5"/>
          <p:cNvSpPr/>
          <p:nvPr/>
        </p:nvSpPr>
        <p:spPr>
          <a:xfrm>
            <a:off x="594360" y="1325880"/>
            <a:ext cx="2286000" cy="365760"/>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Adding</a:t>
            </a:r>
            <a:endParaRPr lang="en-US" sz="1400" dirty="0"/>
          </a:p>
        </p:txBody>
      </p:sp>
      <p:sp>
        <p:nvSpPr>
          <p:cNvPr id="8" name="Text 6"/>
          <p:cNvSpPr/>
          <p:nvPr/>
        </p:nvSpPr>
        <p:spPr>
          <a:xfrm>
            <a:off x="594360" y="1737360"/>
            <a:ext cx="2286000" cy="1097280"/>
          </a:xfrm>
          <a:prstGeom prst="rect">
            <a:avLst/>
          </a:prstGeom>
          <a:noFill/>
          <a:ln/>
        </p:spPr>
        <p:txBody>
          <a:bodyPr wrap="square" rtlCol="0" anchor="t"/>
          <a:lstStyle/>
          <a:p>
            <a:pPr indent="0" marL="0">
              <a:buNone/>
            </a:pPr>
            <a:r>
              <a:rPr lang="en-US" sz="1100" dirty="0">
                <a:solidFill>
                  <a:srgbClr val="3D3A36"/>
                </a:solidFill>
                <a:latin typeface="Calibri" pitchFamily="34" charset="0"/>
                <a:ea typeface="Calibri" pitchFamily="34" charset="-122"/>
                <a:cs typeface="Calibri" pitchFamily="34" charset="-120"/>
              </a:rPr>
              <a:t>Adding a positive: move RIGHT. −3 + 5 = 2. Adding a negative: move LEFT. 4 + (−6) = 4 − 6 = −2.</a:t>
            </a:r>
            <a:endParaRPr lang="en-US" sz="1100" dirty="0"/>
          </a:p>
        </p:txBody>
      </p:sp>
      <p:sp>
        <p:nvSpPr>
          <p:cNvPr id="9" name="Shape 7"/>
          <p:cNvSpPr/>
          <p:nvPr/>
        </p:nvSpPr>
        <p:spPr>
          <a:xfrm>
            <a:off x="3291840" y="1188720"/>
            <a:ext cx="2560320" cy="18288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10" name="Shape 8"/>
          <p:cNvSpPr/>
          <p:nvPr/>
        </p:nvSpPr>
        <p:spPr>
          <a:xfrm>
            <a:off x="3291840" y="1188720"/>
            <a:ext cx="2560320" cy="54864"/>
          </a:xfrm>
          <a:prstGeom prst="rect">
            <a:avLst/>
          </a:prstGeom>
          <a:solidFill>
            <a:srgbClr val="2A9D8F"/>
          </a:solidFill>
          <a:ln/>
        </p:spPr>
      </p:sp>
      <p:sp>
        <p:nvSpPr>
          <p:cNvPr id="11" name="Text 9"/>
          <p:cNvSpPr/>
          <p:nvPr/>
        </p:nvSpPr>
        <p:spPr>
          <a:xfrm>
            <a:off x="3429000" y="1325880"/>
            <a:ext cx="2286000" cy="365760"/>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Subtracting</a:t>
            </a:r>
            <a:endParaRPr lang="en-US" sz="1400" dirty="0"/>
          </a:p>
        </p:txBody>
      </p:sp>
      <p:sp>
        <p:nvSpPr>
          <p:cNvPr id="12" name="Text 10"/>
          <p:cNvSpPr/>
          <p:nvPr/>
        </p:nvSpPr>
        <p:spPr>
          <a:xfrm>
            <a:off x="3429000" y="1737360"/>
            <a:ext cx="2286000" cy="1097280"/>
          </a:xfrm>
          <a:prstGeom prst="rect">
            <a:avLst/>
          </a:prstGeom>
          <a:noFill/>
          <a:ln/>
        </p:spPr>
        <p:txBody>
          <a:bodyPr wrap="square" rtlCol="0" anchor="t"/>
          <a:lstStyle/>
          <a:p>
            <a:pPr indent="0" marL="0">
              <a:buNone/>
            </a:pPr>
            <a:r>
              <a:rPr lang="en-US" sz="1100" dirty="0">
                <a:solidFill>
                  <a:srgbClr val="3D3A36"/>
                </a:solidFill>
                <a:latin typeface="Calibri" pitchFamily="34" charset="0"/>
                <a:ea typeface="Calibri" pitchFamily="34" charset="-122"/>
                <a:cs typeface="Calibri" pitchFamily="34" charset="-120"/>
              </a:rPr>
              <a:t>Subtracting a positive: move LEFT. 2 − 7 = −5. Subtracting a negative: move RIGHT (two negatives make positive). 3 − (−4) = 3 + 4 = 7.</a:t>
            </a:r>
            <a:endParaRPr lang="en-US" sz="1100" dirty="0"/>
          </a:p>
        </p:txBody>
      </p:sp>
      <p:sp>
        <p:nvSpPr>
          <p:cNvPr id="13" name="Shape 11"/>
          <p:cNvSpPr/>
          <p:nvPr/>
        </p:nvSpPr>
        <p:spPr>
          <a:xfrm>
            <a:off x="6126480" y="1188720"/>
            <a:ext cx="2560320" cy="18288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14" name="Shape 12"/>
          <p:cNvSpPr/>
          <p:nvPr/>
        </p:nvSpPr>
        <p:spPr>
          <a:xfrm>
            <a:off x="6126480" y="1188720"/>
            <a:ext cx="2560320" cy="54864"/>
          </a:xfrm>
          <a:prstGeom prst="rect">
            <a:avLst/>
          </a:prstGeom>
          <a:solidFill>
            <a:srgbClr val="2A9D8F"/>
          </a:solidFill>
          <a:ln/>
        </p:spPr>
      </p:sp>
      <p:sp>
        <p:nvSpPr>
          <p:cNvPr id="15" name="Text 13"/>
          <p:cNvSpPr/>
          <p:nvPr/>
        </p:nvSpPr>
        <p:spPr>
          <a:xfrm>
            <a:off x="6263640" y="1325880"/>
            <a:ext cx="2286000" cy="365760"/>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Multiplying</a:t>
            </a:r>
            <a:endParaRPr lang="en-US" sz="1400" dirty="0"/>
          </a:p>
        </p:txBody>
      </p:sp>
      <p:sp>
        <p:nvSpPr>
          <p:cNvPr id="16" name="Text 14"/>
          <p:cNvSpPr/>
          <p:nvPr/>
        </p:nvSpPr>
        <p:spPr>
          <a:xfrm>
            <a:off x="6263640" y="1737360"/>
            <a:ext cx="2286000" cy="1097280"/>
          </a:xfrm>
          <a:prstGeom prst="rect">
            <a:avLst/>
          </a:prstGeom>
          <a:noFill/>
          <a:ln/>
        </p:spPr>
        <p:txBody>
          <a:bodyPr wrap="square" rtlCol="0" anchor="t"/>
          <a:lstStyle/>
          <a:p>
            <a:pPr indent="0" marL="0">
              <a:buNone/>
            </a:pPr>
            <a:r>
              <a:rPr lang="en-US" sz="1100" dirty="0">
                <a:solidFill>
                  <a:srgbClr val="3D3A36"/>
                </a:solidFill>
                <a:latin typeface="Calibri" pitchFamily="34" charset="0"/>
                <a:ea typeface="Calibri" pitchFamily="34" charset="-122"/>
                <a:cs typeface="Calibri" pitchFamily="34" charset="-120"/>
              </a:rPr>
              <a:t>Same signs → positive: (−3) × (−2) = +6. Different signs → negative: (−3) × 2 = −6. Positive × positive = positive.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9C46A"/>
          </a:solidFill>
          <a:ln/>
        </p:spPr>
      </p:sp>
      <p:sp>
        <p:nvSpPr>
          <p:cNvPr id="3" name="Text 1"/>
          <p:cNvSpPr/>
          <p:nvPr/>
        </p:nvSpPr>
        <p:spPr>
          <a:xfrm>
            <a:off x="731520" y="457200"/>
            <a:ext cx="7772400" cy="73152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Key Takeaways</a:t>
            </a:r>
            <a:endParaRPr lang="en-US" sz="3200" dirty="0"/>
          </a:p>
        </p:txBody>
      </p:sp>
      <p:sp>
        <p:nvSpPr>
          <p:cNvPr id="4" name="Text 2"/>
          <p:cNvSpPr/>
          <p:nvPr/>
        </p:nvSpPr>
        <p:spPr>
          <a:xfrm>
            <a:off x="731520" y="1463040"/>
            <a:ext cx="7772400" cy="3200400"/>
          </a:xfrm>
          <a:prstGeom prst="rect">
            <a:avLst/>
          </a:prstGeom>
          <a:noFill/>
          <a:ln/>
        </p:spPr>
        <p:txBody>
          <a:bodyPr wrap="square" rtlCol="0" anchor="t"/>
          <a:lstStyle/>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Negative numbers are less than zero (left of zero on number line)</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−7 &lt; −2 (further from zero = smaller)</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Adding negative = moving left; subtracting negative = moving right</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Two negatives make a positive: 3 − (−4) = 3 + 4 = 7</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Multiplying: same signs = positive, different signs = negative</a:t>
            </a:r>
            <a:endParaRPr lang="en-US" sz="1500" dirty="0"/>
          </a:p>
        </p:txBody>
      </p:sp>
      <p:sp>
        <p:nvSpPr>
          <p:cNvPr id="5" name="Text 3"/>
          <p:cNvSpPr/>
          <p:nvPr/>
        </p:nvSpPr>
        <p:spPr>
          <a:xfrm>
            <a:off x="731520" y="4572000"/>
            <a:ext cx="7772400" cy="365760"/>
          </a:xfrm>
          <a:prstGeom prst="rect">
            <a:avLst/>
          </a:prstGeom>
          <a:noFill/>
          <a:ln/>
        </p:spPr>
        <p:txBody>
          <a:bodyPr wrap="square" rtlCol="0" anchor="ctr"/>
          <a:lstStyle/>
          <a:p>
            <a:pPr indent="0" marL="0">
              <a:buNone/>
            </a:pPr>
            <a:r>
              <a:rPr lang="en-US" sz="1100" dirty="0">
                <a:solidFill>
                  <a:srgbClr val="E9C46A"/>
                </a:solidFill>
                <a:latin typeface="Calibri" pitchFamily="34" charset="0"/>
                <a:ea typeface="Calibri" pitchFamily="34" charset="-122"/>
                <a:cs typeface="Calibri" pitchFamily="34" charset="-120"/>
              </a:rPr>
              <a:t>mrzocchi.com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Negative Numbers</dc:title>
  <dc:subject>PptxGenJS Presentation</dc:subject>
  <dc:creator>Mr Zocchi</dc:creator>
  <cp:lastModifiedBy>Mr Zocchi</cp:lastModifiedBy>
  <cp:revision>1</cp:revision>
  <dcterms:created xsi:type="dcterms:W3CDTF">2026-03-23T04:01:17Z</dcterms:created>
  <dcterms:modified xsi:type="dcterms:W3CDTF">2026-03-23T04:01:17Z</dcterms:modified>
</cp:coreProperties>
</file>