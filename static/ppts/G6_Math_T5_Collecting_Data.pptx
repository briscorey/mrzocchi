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777740"/>
            <a:ext cx="9144000" cy="365760"/>
          </a:xfrm>
          <a:prstGeom prst="rect">
            <a:avLst/>
          </a:prstGeom>
          <a:solidFill>
            <a:srgbClr val="2A9D8F"/>
          </a:solidFill>
          <a:ln/>
        </p:spPr>
      </p:sp>
      <p:sp>
        <p:nvSpPr>
          <p:cNvPr id="4" name="Shape 2"/>
          <p:cNvSpPr/>
          <p:nvPr/>
        </p:nvSpPr>
        <p:spPr>
          <a:xfrm>
            <a:off x="6858000" y="-1371600"/>
            <a:ext cx="4572000" cy="4572000"/>
          </a:xfrm>
          <a:prstGeom prst="ellipse">
            <a:avLst/>
          </a:prstGeom>
          <a:solidFill>
            <a:srgbClr val="2A9D8F">
              <a:alpha val="12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91440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500" kern="0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GRADE 6 MATHEMATICS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31520" y="1463040"/>
            <a:ext cx="685800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Collecting &amp;</a:t>
            </a:r>
            <a:endParaRPr lang="en-US" sz="3800" dirty="0"/>
          </a:p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Organising Data</a:t>
            </a:r>
            <a:endParaRPr lang="en-US" sz="3800" dirty="0"/>
          </a:p>
        </p:txBody>
      </p:sp>
      <p:sp>
        <p:nvSpPr>
          <p:cNvPr id="7" name="Text 5"/>
          <p:cNvSpPr/>
          <p:nvPr/>
        </p:nvSpPr>
        <p:spPr>
          <a:xfrm>
            <a:off x="731520" y="3200400"/>
            <a:ext cx="6400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9B9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Planning surveys and organising results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31520" y="42976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B9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mrzocchi.com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04672"/>
            <a:ext cx="9144000" cy="27432"/>
          </a:xfrm>
          <a:prstGeom prst="rect">
            <a:avLst/>
          </a:prstGeom>
          <a:solidFill>
            <a:srgbClr val="E5E2DC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201168"/>
            <a:ext cx="54864" cy="420624"/>
          </a:xfrm>
          <a:prstGeom prst="rect">
            <a:avLst/>
          </a:prstGeom>
          <a:solidFill>
            <a:srgbClr val="2A9D8F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13716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Vocabulary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731520" y="1051560"/>
            <a:ext cx="3657600" cy="65836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31520" y="1051560"/>
            <a:ext cx="54864" cy="658368"/>
          </a:xfrm>
          <a:prstGeom prst="rect">
            <a:avLst/>
          </a:prstGeom>
          <a:solidFill>
            <a:srgbClr val="2A9D8F"/>
          </a:solidFill>
          <a:ln/>
        </p:spPr>
      </p:sp>
      <p:sp>
        <p:nvSpPr>
          <p:cNvPr id="8" name="Text 6"/>
          <p:cNvSpPr/>
          <p:nvPr/>
        </p:nvSpPr>
        <p:spPr>
          <a:xfrm>
            <a:off x="914400" y="1051560"/>
            <a:ext cx="1463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2377440" y="1051560"/>
            <a:ext cx="1920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Information collected for analysis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754880" y="1051560"/>
            <a:ext cx="3657600" cy="65836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754880" y="1051560"/>
            <a:ext cx="54864" cy="658368"/>
          </a:xfrm>
          <a:prstGeom prst="rect">
            <a:avLst/>
          </a:prstGeom>
          <a:solidFill>
            <a:srgbClr val="2A9D8F"/>
          </a:solidFill>
          <a:ln/>
        </p:spPr>
      </p:sp>
      <p:sp>
        <p:nvSpPr>
          <p:cNvPr id="12" name="Text 10"/>
          <p:cNvSpPr/>
          <p:nvPr/>
        </p:nvSpPr>
        <p:spPr>
          <a:xfrm>
            <a:off x="4937760" y="1051560"/>
            <a:ext cx="1463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Survey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400800" y="1051560"/>
            <a:ext cx="1920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asked to collect data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731520" y="1819656"/>
            <a:ext cx="3657600" cy="65836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731520" y="1819656"/>
            <a:ext cx="54864" cy="658368"/>
          </a:xfrm>
          <a:prstGeom prst="rect">
            <a:avLst/>
          </a:prstGeom>
          <a:solidFill>
            <a:srgbClr val="2A9D8F"/>
          </a:solidFill>
          <a:ln/>
        </p:spPr>
      </p:sp>
      <p:sp>
        <p:nvSpPr>
          <p:cNvPr id="16" name="Text 14"/>
          <p:cNvSpPr/>
          <p:nvPr/>
        </p:nvSpPr>
        <p:spPr>
          <a:xfrm>
            <a:off x="914400" y="1819656"/>
            <a:ext cx="1463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Tally chart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2377440" y="1819656"/>
            <a:ext cx="1920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Marks used to count data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754880" y="1819656"/>
            <a:ext cx="3657600" cy="65836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754880" y="1819656"/>
            <a:ext cx="54864" cy="658368"/>
          </a:xfrm>
          <a:prstGeom prst="rect">
            <a:avLst/>
          </a:prstGeom>
          <a:solidFill>
            <a:srgbClr val="2A9D8F"/>
          </a:solidFill>
          <a:ln/>
        </p:spPr>
      </p:sp>
      <p:sp>
        <p:nvSpPr>
          <p:cNvPr id="20" name="Text 18"/>
          <p:cNvSpPr/>
          <p:nvPr/>
        </p:nvSpPr>
        <p:spPr>
          <a:xfrm>
            <a:off x="4937760" y="1819656"/>
            <a:ext cx="1463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Frequency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400800" y="1819656"/>
            <a:ext cx="1920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many times something occurs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731520" y="2587752"/>
            <a:ext cx="3657600" cy="65836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731520" y="2587752"/>
            <a:ext cx="54864" cy="658368"/>
          </a:xfrm>
          <a:prstGeom prst="rect">
            <a:avLst/>
          </a:prstGeom>
          <a:solidFill>
            <a:srgbClr val="2A9D8F"/>
          </a:solidFill>
          <a:ln/>
        </p:spPr>
      </p:sp>
      <p:sp>
        <p:nvSpPr>
          <p:cNvPr id="24" name="Text 22"/>
          <p:cNvSpPr/>
          <p:nvPr/>
        </p:nvSpPr>
        <p:spPr>
          <a:xfrm>
            <a:off x="914400" y="2587752"/>
            <a:ext cx="1463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Qualitative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2377440" y="2587752"/>
            <a:ext cx="1920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described in words (e.g. colour)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754880" y="2587752"/>
            <a:ext cx="3657600" cy="65836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754880" y="2587752"/>
            <a:ext cx="54864" cy="658368"/>
          </a:xfrm>
          <a:prstGeom prst="rect">
            <a:avLst/>
          </a:prstGeom>
          <a:solidFill>
            <a:srgbClr val="2A9D8F"/>
          </a:solidFill>
          <a:ln/>
        </p:spPr>
      </p:sp>
      <p:sp>
        <p:nvSpPr>
          <p:cNvPr id="28" name="Text 26"/>
          <p:cNvSpPr/>
          <p:nvPr/>
        </p:nvSpPr>
        <p:spPr>
          <a:xfrm>
            <a:off x="4937760" y="2587752"/>
            <a:ext cx="1463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Quantitative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6400800" y="2587752"/>
            <a:ext cx="1920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with numbers (e.g. height)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04672"/>
            <a:ext cx="9144000" cy="27432"/>
          </a:xfrm>
          <a:prstGeom prst="rect">
            <a:avLst/>
          </a:prstGeom>
          <a:solidFill>
            <a:srgbClr val="E5E2DC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201168"/>
            <a:ext cx="54864" cy="420624"/>
          </a:xfrm>
          <a:prstGeom prst="rect">
            <a:avLst/>
          </a:prstGeom>
          <a:solidFill>
            <a:srgbClr val="2A9D8F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13716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Types of Data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548640" y="1051560"/>
            <a:ext cx="3840480" cy="3474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48640" y="1051560"/>
            <a:ext cx="3840480" cy="54864"/>
          </a:xfrm>
          <a:prstGeom prst="rect">
            <a:avLst/>
          </a:prstGeom>
          <a:solidFill>
            <a:srgbClr val="2A9D8F"/>
          </a:solidFill>
          <a:ln/>
        </p:spPr>
      </p:sp>
      <p:sp>
        <p:nvSpPr>
          <p:cNvPr id="8" name="Text 6"/>
          <p:cNvSpPr/>
          <p:nvPr/>
        </p:nvSpPr>
        <p:spPr>
          <a:xfrm>
            <a:off x="777240" y="118872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Qualitative (Categorical)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777240" y="1691640"/>
            <a:ext cx="3383280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D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Described in words or categories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D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Examples: eye colour, favourite food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D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Cannot do calculations with it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D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bar charts to display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754880" y="1051560"/>
            <a:ext cx="3840480" cy="3474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754880" y="1051560"/>
            <a:ext cx="3840480" cy="54864"/>
          </a:xfrm>
          <a:prstGeom prst="rect">
            <a:avLst/>
          </a:prstGeom>
          <a:solidFill>
            <a:srgbClr val="E9C46A"/>
          </a:solidFill>
          <a:ln/>
        </p:spPr>
      </p:sp>
      <p:sp>
        <p:nvSpPr>
          <p:cNvPr id="12" name="Text 10"/>
          <p:cNvSpPr/>
          <p:nvPr/>
        </p:nvSpPr>
        <p:spPr>
          <a:xfrm>
            <a:off x="4983480" y="118872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Quantitative (Numerical)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983480" y="1691640"/>
            <a:ext cx="3383280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D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Measured with numbers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D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Discrete: counted (e.g. number of siblings)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D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Continuous: measured (e.g. height)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D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calculate averages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04672"/>
            <a:ext cx="9144000" cy="27432"/>
          </a:xfrm>
          <a:prstGeom prst="rect">
            <a:avLst/>
          </a:prstGeom>
          <a:solidFill>
            <a:srgbClr val="E5E2DC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201168"/>
            <a:ext cx="54864" cy="420624"/>
          </a:xfrm>
          <a:prstGeom prst="rect">
            <a:avLst/>
          </a:prstGeom>
          <a:solidFill>
            <a:srgbClr val="2A9D8F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13716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Designing a Good Survey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1051560"/>
            <a:ext cx="768096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3D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should be clear and easy to understand.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3D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 response options (multiple choice) for easier analysis.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3D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Avoid leading questions ('Don't you think...').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3D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Avoid overlapping categories (use 1–5, 6–10, not 1–5, 5–10).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3D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enough people — at least 30 for reliable data.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731520" y="4206240"/>
            <a:ext cx="7680960" cy="640080"/>
          </a:xfrm>
          <a:prstGeom prst="rect">
            <a:avLst/>
          </a:prstGeom>
          <a:solidFill>
            <a:srgbClr val="E8F5F3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914400" y="425196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Idea: </a:t>
            </a:r>
            <a:pPr indent="0" marL="0">
              <a:buNone/>
            </a:pPr>
            <a:r>
              <a:rPr lang="en-US" sz="1200" i="1" dirty="0">
                <a:solidFill>
                  <a:srgbClr val="3D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Bad question: 'Do you like sports?' Better: 'How many hours of sport do you do per week? 0–2, 3–5, 6+'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04672"/>
            <a:ext cx="9144000" cy="27432"/>
          </a:xfrm>
          <a:prstGeom prst="rect">
            <a:avLst/>
          </a:prstGeom>
          <a:solidFill>
            <a:srgbClr val="E5E2DC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201168"/>
            <a:ext cx="54864" cy="420624"/>
          </a:xfrm>
          <a:prstGeom prst="rect">
            <a:avLst/>
          </a:prstGeom>
          <a:solidFill>
            <a:srgbClr val="2A9D8F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13716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Organising Data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1051560"/>
            <a:ext cx="768096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3D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a TALLY CHART: marks in groups of 5 (four lines + diagonal).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3D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 tallies to FREQUENCY (the count as a number).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3D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a FREQUENCY TABLE for neat, organised data.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3D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data if there are too many different values (e.g. 0–10, 11–20).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3D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include a TOTAL row/column to check your work.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04672"/>
            <a:ext cx="9144000" cy="27432"/>
          </a:xfrm>
          <a:prstGeom prst="rect">
            <a:avLst/>
          </a:prstGeom>
          <a:solidFill>
            <a:srgbClr val="E5E2DC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201168"/>
            <a:ext cx="54864" cy="420624"/>
          </a:xfrm>
          <a:prstGeom prst="rect">
            <a:avLst/>
          </a:prstGeom>
          <a:solidFill>
            <a:srgbClr val="2A9D8F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13716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Check Your Understanding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731520" y="1051560"/>
            <a:ext cx="7680960" cy="43891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7" name="Text 5"/>
          <p:cNvSpPr/>
          <p:nvPr/>
        </p:nvSpPr>
        <p:spPr>
          <a:xfrm>
            <a:off x="868680" y="1051560"/>
            <a:ext cx="3200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A9D8F"/>
                </a:solidFill>
              </a:rPr>
              <a:t>☐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234440" y="1051560"/>
            <a:ext cx="69494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D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can distinguish between qualitative and quantitative data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731520" y="1554480"/>
            <a:ext cx="7680960" cy="438912"/>
          </a:xfrm>
          <a:prstGeom prst="rect">
            <a:avLst/>
          </a:prstGeom>
          <a:solidFill>
            <a:srgbClr val="F8F6F3"/>
          </a:solidFill>
          <a:ln/>
        </p:spPr>
      </p:sp>
      <p:sp>
        <p:nvSpPr>
          <p:cNvPr id="10" name="Text 8"/>
          <p:cNvSpPr/>
          <p:nvPr/>
        </p:nvSpPr>
        <p:spPr>
          <a:xfrm>
            <a:off x="868680" y="1554480"/>
            <a:ext cx="3200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A9D8F"/>
                </a:solidFill>
              </a:rPr>
              <a:t>☐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234440" y="1554480"/>
            <a:ext cx="69494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D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can design clear survey questions with response categories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731520" y="2057400"/>
            <a:ext cx="7680960" cy="43891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3" name="Text 11"/>
          <p:cNvSpPr/>
          <p:nvPr/>
        </p:nvSpPr>
        <p:spPr>
          <a:xfrm>
            <a:off x="868680" y="2057400"/>
            <a:ext cx="3200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A9D8F"/>
                </a:solidFill>
              </a:rPr>
              <a:t>☐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234440" y="2057400"/>
            <a:ext cx="69494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D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can use tally charts and frequency tables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731520" y="2560320"/>
            <a:ext cx="7680960" cy="438912"/>
          </a:xfrm>
          <a:prstGeom prst="rect">
            <a:avLst/>
          </a:prstGeom>
          <a:solidFill>
            <a:srgbClr val="F8F6F3"/>
          </a:solidFill>
          <a:ln/>
        </p:spPr>
      </p:sp>
      <p:sp>
        <p:nvSpPr>
          <p:cNvPr id="16" name="Text 14"/>
          <p:cNvSpPr/>
          <p:nvPr/>
        </p:nvSpPr>
        <p:spPr>
          <a:xfrm>
            <a:off x="868680" y="2560320"/>
            <a:ext cx="3200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A9D8F"/>
                </a:solidFill>
              </a:rPr>
              <a:t>☐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234440" y="2560320"/>
            <a:ext cx="69494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D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know how to group data appropriately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731520" y="3063240"/>
            <a:ext cx="7680960" cy="43891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9" name="Text 17"/>
          <p:cNvSpPr/>
          <p:nvPr/>
        </p:nvSpPr>
        <p:spPr>
          <a:xfrm>
            <a:off x="868680" y="3063240"/>
            <a:ext cx="3200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A9D8F"/>
                </a:solidFill>
              </a:rPr>
              <a:t>☐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234440" y="3063240"/>
            <a:ext cx="69494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D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can organise data for analysis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731520" y="3749040"/>
            <a:ext cx="7680960" cy="594360"/>
          </a:xfrm>
          <a:prstGeom prst="rect">
            <a:avLst/>
          </a:prstGeom>
          <a:solidFill>
            <a:srgbClr val="E8F5F3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914400" y="3749040"/>
            <a:ext cx="7315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Idea: </a:t>
            </a:r>
            <a:pPr indent="0" marL="0">
              <a:buNone/>
            </a:pPr>
            <a:r>
              <a:rPr lang="en-US" sz="1200" i="1" dirty="0">
                <a:solidFill>
                  <a:srgbClr val="3D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 data collection leads to reliable results — plan your survey carefully.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777740"/>
            <a:ext cx="9144000" cy="365760"/>
          </a:xfrm>
          <a:prstGeom prst="rect">
            <a:avLst/>
          </a:prstGeom>
          <a:solidFill>
            <a:srgbClr val="2A9D8F"/>
          </a:solidFill>
          <a:ln/>
        </p:spPr>
      </p:sp>
      <p:sp>
        <p:nvSpPr>
          <p:cNvPr id="4" name="Shape 2"/>
          <p:cNvSpPr/>
          <p:nvPr/>
        </p:nvSpPr>
        <p:spPr>
          <a:xfrm>
            <a:off x="-914400" y="-914400"/>
            <a:ext cx="3657600" cy="3657600"/>
          </a:xfrm>
          <a:prstGeom prst="ellipse">
            <a:avLst/>
          </a:prstGeom>
          <a:solidFill>
            <a:srgbClr val="2A9D8F">
              <a:alpha val="10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463040"/>
            <a:ext cx="7680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Review &amp; Practise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731520" y="246888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mrzocchi.com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31520" y="310896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B9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the Self-Quiz, Review Games, and Practice Builder to test yourself.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Collecting &amp; Organising Data</dc:title>
  <dc:subject>PptxGenJS Presentation</dc:subject>
  <dc:creator>Mr Zocchi</dc:creator>
  <cp:lastModifiedBy>Mr Zocchi</cp:lastModifiedBy>
  <cp:revision>1</cp:revision>
  <dcterms:created xsi:type="dcterms:W3CDTF">2026-03-24T11:21:05Z</dcterms:created>
  <dcterms:modified xsi:type="dcterms:W3CDTF">2026-03-24T11:21:05Z</dcterms:modified>
</cp:coreProperties>
</file>