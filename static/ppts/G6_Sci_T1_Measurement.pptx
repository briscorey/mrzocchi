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A9D8F"/>
          </a:solidFill>
          <a:ln/>
        </p:spPr>
      </p:sp>
      <p:sp>
        <p:nvSpPr>
          <p:cNvPr id="3" name="Text 1"/>
          <p:cNvSpPr/>
          <p:nvPr/>
        </p:nvSpPr>
        <p:spPr>
          <a:xfrm>
            <a:off x="731520" y="1097280"/>
            <a:ext cx="7772400" cy="13716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Measurement &amp; Units</a:t>
            </a:r>
            <a:endParaRPr lang="en-US" sz="4000" dirty="0"/>
          </a:p>
        </p:txBody>
      </p:sp>
      <p:sp>
        <p:nvSpPr>
          <p:cNvPr id="4" name="Text 2"/>
          <p:cNvSpPr/>
          <p:nvPr/>
        </p:nvSpPr>
        <p:spPr>
          <a:xfrm>
            <a:off x="731520" y="2560320"/>
            <a:ext cx="7772400" cy="548640"/>
          </a:xfrm>
          <a:prstGeom prst="rect">
            <a:avLst/>
          </a:prstGeom>
          <a:noFill/>
          <a:ln/>
        </p:spPr>
        <p:txBody>
          <a:bodyPr wrap="square" rtlCol="0" anchor="ctr"/>
          <a:lstStyle/>
          <a:p>
            <a:pPr indent="0" marL="0">
              <a:buNone/>
            </a:pPr>
            <a:r>
              <a:rPr lang="en-US" sz="1600" dirty="0">
                <a:solidFill>
                  <a:srgbClr val="E9C46A"/>
                </a:solidFill>
                <a:latin typeface="Calibri" pitchFamily="34" charset="0"/>
                <a:ea typeface="Calibri" pitchFamily="34" charset="-122"/>
                <a:cs typeface="Calibri" pitchFamily="34" charset="-120"/>
              </a:rPr>
              <a:t>Grade 6 Science · Mr Zocchi</a:t>
            </a:r>
            <a:endParaRPr lang="en-US" sz="1600" dirty="0"/>
          </a:p>
        </p:txBody>
      </p:sp>
      <p:sp>
        <p:nvSpPr>
          <p:cNvPr id="5" name="Shape 3"/>
          <p:cNvSpPr/>
          <p:nvPr/>
        </p:nvSpPr>
        <p:spPr>
          <a:xfrm>
            <a:off x="731520" y="3474720"/>
            <a:ext cx="2011680" cy="411480"/>
          </a:xfrm>
          <a:prstGeom prst="roundRect">
            <a:avLst>
              <a:gd name="adj" fmla="val 17778"/>
            </a:avLst>
          </a:prstGeom>
          <a:solidFill>
            <a:srgbClr val="2A9D8F"/>
          </a:solidFill>
          <a:ln/>
        </p:spPr>
      </p:sp>
      <p:sp>
        <p:nvSpPr>
          <p:cNvPr id="6" name="Text 4"/>
          <p:cNvSpPr/>
          <p:nvPr/>
        </p:nvSpPr>
        <p:spPr>
          <a:xfrm>
            <a:off x="731520" y="3474720"/>
            <a:ext cx="201168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Term 1 · Scientific Skills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2 / 6</a:t>
            </a:r>
            <a:endParaRPr lang="en-US" sz="900" dirty="0"/>
          </a:p>
        </p:txBody>
      </p:sp>
      <p:sp>
        <p:nvSpPr>
          <p:cNvPr id="4" name="Shape 2"/>
          <p:cNvSpPr/>
          <p:nvPr/>
        </p:nvSpPr>
        <p:spPr>
          <a:xfrm>
            <a:off x="1371600" y="914400"/>
            <a:ext cx="6400800" cy="32004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5" name="Shape 3"/>
          <p:cNvSpPr/>
          <p:nvPr/>
        </p:nvSpPr>
        <p:spPr>
          <a:xfrm>
            <a:off x="1371600" y="914400"/>
            <a:ext cx="91440" cy="3200400"/>
          </a:xfrm>
          <a:prstGeom prst="rect">
            <a:avLst/>
          </a:prstGeom>
          <a:solidFill>
            <a:srgbClr val="2A9D8F"/>
          </a:solidFill>
          <a:ln/>
        </p:spPr>
      </p:sp>
      <p:sp>
        <p:nvSpPr>
          <p:cNvPr id="6" name="Text 4"/>
          <p:cNvSpPr/>
          <p:nvPr/>
        </p:nvSpPr>
        <p:spPr>
          <a:xfrm>
            <a:off x="1828800" y="1097280"/>
            <a:ext cx="5669280" cy="640080"/>
          </a:xfrm>
          <a:prstGeom prst="rect">
            <a:avLst/>
          </a:prstGeom>
          <a:noFill/>
          <a:ln/>
        </p:spPr>
        <p:txBody>
          <a:bodyPr wrap="square" rtlCol="0" anchor="ctr"/>
          <a:lstStyle/>
          <a:p>
            <a:pPr indent="0" marL="0">
              <a:buNone/>
            </a:pPr>
            <a:r>
              <a:rPr lang="en-US" sz="2400" b="1" dirty="0">
                <a:solidFill>
                  <a:srgbClr val="1B2A4A"/>
                </a:solidFill>
                <a:latin typeface="Georgia" pitchFamily="34" charset="0"/>
                <a:ea typeface="Georgia" pitchFamily="34" charset="-122"/>
                <a:cs typeface="Georgia" pitchFamily="34" charset="-120"/>
              </a:rPr>
              <a:t>Why Measurement Matters</a:t>
            </a:r>
            <a:endParaRPr lang="en-US" sz="2400" dirty="0"/>
          </a:p>
        </p:txBody>
      </p:sp>
      <p:sp>
        <p:nvSpPr>
          <p:cNvPr id="7" name="Text 5"/>
          <p:cNvSpPr/>
          <p:nvPr/>
        </p:nvSpPr>
        <p:spPr>
          <a:xfrm>
            <a:off x="1828800" y="1828800"/>
            <a:ext cx="5669280" cy="2011680"/>
          </a:xfrm>
          <a:prstGeom prst="rect">
            <a:avLst/>
          </a:prstGeom>
          <a:noFill/>
          <a:ln/>
        </p:spPr>
        <p:txBody>
          <a:bodyPr wrap="square" rtlCol="0" anchor="t"/>
          <a:lstStyle/>
          <a:p>
            <a:pPr indent="0" marL="0">
              <a:lnSpc>
                <a:spcPct val="130000"/>
              </a:lnSpc>
              <a:buNone/>
            </a:pPr>
            <a:r>
              <a:rPr lang="en-US" sz="1500" dirty="0">
                <a:solidFill>
                  <a:srgbClr val="3D3A36"/>
                </a:solidFill>
                <a:latin typeface="Calibri" pitchFamily="34" charset="0"/>
                <a:ea typeface="Calibri" pitchFamily="34" charset="-122"/>
                <a:cs typeface="Calibri" pitchFamily="34" charset="-120"/>
              </a:rPr>
              <a:t>Science relies on accurate measurement. Without standard units, scientists around the world could not compare results. The metric system (SI units) is used universally in science because it is based on powers of 10, making conversions simple.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3 / 6</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Key SI Units</a:t>
            </a:r>
            <a:endParaRPr lang="en-US" sz="2600" dirty="0"/>
          </a:p>
        </p:txBody>
      </p:sp>
      <p:sp>
        <p:nvSpPr>
          <p:cNvPr id="5" name="Shape 3"/>
          <p:cNvSpPr/>
          <p:nvPr/>
        </p:nvSpPr>
        <p:spPr>
          <a:xfrm>
            <a:off x="45720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2560320" cy="54864"/>
          </a:xfrm>
          <a:prstGeom prst="rect">
            <a:avLst/>
          </a:prstGeom>
          <a:solidFill>
            <a:srgbClr val="2A9D8F"/>
          </a:solidFill>
          <a:ln/>
        </p:spPr>
      </p:sp>
      <p:sp>
        <p:nvSpPr>
          <p:cNvPr id="7" name="Text 5"/>
          <p:cNvSpPr/>
          <p:nvPr/>
        </p:nvSpPr>
        <p:spPr>
          <a:xfrm>
            <a:off x="59436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Length — Metres (m)</a:t>
            </a:r>
            <a:endParaRPr lang="en-US" sz="1400" dirty="0"/>
          </a:p>
        </p:txBody>
      </p:sp>
      <p:sp>
        <p:nvSpPr>
          <p:cNvPr id="8" name="Text 6"/>
          <p:cNvSpPr/>
          <p:nvPr/>
        </p:nvSpPr>
        <p:spPr>
          <a:xfrm>
            <a:off x="59436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Measure with a ruler or measuring tape. 1 km = 1000 m. 1 m = 100 cm. 1 cm = 10 mm. Always read at eye level to avoid parallax error.</a:t>
            </a:r>
            <a:endParaRPr lang="en-US" sz="1100" dirty="0"/>
          </a:p>
        </p:txBody>
      </p:sp>
      <p:sp>
        <p:nvSpPr>
          <p:cNvPr id="9" name="Shape 7"/>
          <p:cNvSpPr/>
          <p:nvPr/>
        </p:nvSpPr>
        <p:spPr>
          <a:xfrm>
            <a:off x="329184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0" name="Shape 8"/>
          <p:cNvSpPr/>
          <p:nvPr/>
        </p:nvSpPr>
        <p:spPr>
          <a:xfrm>
            <a:off x="3291840" y="1188720"/>
            <a:ext cx="2560320" cy="54864"/>
          </a:xfrm>
          <a:prstGeom prst="rect">
            <a:avLst/>
          </a:prstGeom>
          <a:solidFill>
            <a:srgbClr val="2A9D8F"/>
          </a:solidFill>
          <a:ln/>
        </p:spPr>
      </p:sp>
      <p:sp>
        <p:nvSpPr>
          <p:cNvPr id="11" name="Text 9"/>
          <p:cNvSpPr/>
          <p:nvPr/>
        </p:nvSpPr>
        <p:spPr>
          <a:xfrm>
            <a:off x="342900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Mass — Grams (g)</a:t>
            </a:r>
            <a:endParaRPr lang="en-US" sz="1400" dirty="0"/>
          </a:p>
        </p:txBody>
      </p:sp>
      <p:sp>
        <p:nvSpPr>
          <p:cNvPr id="12" name="Text 10"/>
          <p:cNvSpPr/>
          <p:nvPr/>
        </p:nvSpPr>
        <p:spPr>
          <a:xfrm>
            <a:off x="342900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Measure with a balance or scale. 1 kg = 1000 g. Mass is the amount of matter in an object. It does NOT change with location (unlike weight).</a:t>
            </a:r>
            <a:endParaRPr lang="en-US" sz="1100" dirty="0"/>
          </a:p>
        </p:txBody>
      </p:sp>
      <p:sp>
        <p:nvSpPr>
          <p:cNvPr id="13" name="Shape 11"/>
          <p:cNvSpPr/>
          <p:nvPr/>
        </p:nvSpPr>
        <p:spPr>
          <a:xfrm>
            <a:off x="612648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4" name="Shape 12"/>
          <p:cNvSpPr/>
          <p:nvPr/>
        </p:nvSpPr>
        <p:spPr>
          <a:xfrm>
            <a:off x="6126480" y="1188720"/>
            <a:ext cx="2560320" cy="54864"/>
          </a:xfrm>
          <a:prstGeom prst="rect">
            <a:avLst/>
          </a:prstGeom>
          <a:solidFill>
            <a:srgbClr val="2A9D8F"/>
          </a:solidFill>
          <a:ln/>
        </p:spPr>
      </p:sp>
      <p:sp>
        <p:nvSpPr>
          <p:cNvPr id="15" name="Text 13"/>
          <p:cNvSpPr/>
          <p:nvPr/>
        </p:nvSpPr>
        <p:spPr>
          <a:xfrm>
            <a:off x="626364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Volume — Litres (L)</a:t>
            </a:r>
            <a:endParaRPr lang="en-US" sz="1400" dirty="0"/>
          </a:p>
        </p:txBody>
      </p:sp>
      <p:sp>
        <p:nvSpPr>
          <p:cNvPr id="16" name="Text 14"/>
          <p:cNvSpPr/>
          <p:nvPr/>
        </p:nvSpPr>
        <p:spPr>
          <a:xfrm>
            <a:off x="626364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Measure liquids with a measuring cylinder. 1 L = 1000 mL. Read the bottom of the meniscus at eye level. For solids, use length × width × height.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4 / 6</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Reading Instruments Accurately</a:t>
            </a:r>
            <a:endParaRPr lang="en-US" sz="2600" dirty="0"/>
          </a:p>
        </p:txBody>
      </p:sp>
      <p:sp>
        <p:nvSpPr>
          <p:cNvPr id="5" name="Text 3"/>
          <p:cNvSpPr/>
          <p:nvPr/>
        </p:nvSpPr>
        <p:spPr>
          <a:xfrm>
            <a:off x="457200" y="1188720"/>
            <a:ext cx="3840480" cy="3474720"/>
          </a:xfrm>
          <a:prstGeom prst="rect">
            <a:avLst/>
          </a:prstGeom>
          <a:noFill/>
          <a:ln/>
        </p:spPr>
        <p:txBody>
          <a:bodyPr wrap="square" rtlCol="0" anchor="t"/>
          <a:lstStyle/>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Always read at eye level (not from above or below)</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For liquids, read the bottom of the meniscus (curved surface)</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Estimate between the smallest divisions on the scale</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Record the correct unit with every measurement</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Zero the balance before measuring mass</a:t>
            </a:r>
            <a:endParaRPr lang="en-US" sz="1400" dirty="0"/>
          </a:p>
        </p:txBody>
      </p:sp>
      <p:sp>
        <p:nvSpPr>
          <p:cNvPr id="6" name="Shape 4"/>
          <p:cNvSpPr/>
          <p:nvPr/>
        </p:nvSpPr>
        <p:spPr>
          <a:xfrm>
            <a:off x="4846320" y="1188720"/>
            <a:ext cx="3840480" cy="347472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7" name="Shape 5"/>
          <p:cNvSpPr/>
          <p:nvPr/>
        </p:nvSpPr>
        <p:spPr>
          <a:xfrm>
            <a:off x="4846320" y="1188720"/>
            <a:ext cx="3840480" cy="54864"/>
          </a:xfrm>
          <a:prstGeom prst="rect">
            <a:avLst/>
          </a:prstGeom>
          <a:solidFill>
            <a:srgbClr val="2A9D8F"/>
          </a:solidFill>
          <a:ln/>
        </p:spPr>
      </p:sp>
      <p:sp>
        <p:nvSpPr>
          <p:cNvPr id="8" name="Text 6"/>
          <p:cNvSpPr/>
          <p:nvPr/>
        </p:nvSpPr>
        <p:spPr>
          <a:xfrm>
            <a:off x="5120640" y="1371600"/>
            <a:ext cx="3291840" cy="3108960"/>
          </a:xfrm>
          <a:prstGeom prst="rect">
            <a:avLst/>
          </a:prstGeom>
          <a:noFill/>
          <a:ln/>
        </p:spPr>
        <p:txBody>
          <a:bodyPr wrap="square" rtlCol="0" anchor="t"/>
          <a:lstStyle/>
          <a:p>
            <a:pPr indent="0" marL="0">
              <a:spcAft>
                <a:spcPts val="400"/>
              </a:spcAft>
              <a:buNone/>
            </a:pPr>
            <a:r>
              <a:rPr lang="en-US" sz="1600" b="1" dirty="0">
                <a:solidFill>
                  <a:srgbClr val="1B2A4A"/>
                </a:solidFill>
                <a:latin typeface="Calibri" pitchFamily="34" charset="0"/>
                <a:ea typeface="Calibri" pitchFamily="34" charset="-122"/>
                <a:cs typeface="Calibri" pitchFamily="34" charset="-120"/>
              </a:rPr>
              <a:t>Temperature &amp; Time</a:t>
            </a:r>
            <a:endParaRPr lang="en-US" sz="1600" dirty="0"/>
          </a:p>
          <a:p>
            <a:pPr indent="0" marL="0">
              <a:spcAft>
                <a:spcPts val="400"/>
              </a:spcAft>
              <a:buNone/>
            </a:pP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Temperature measured in degrees Celsius (°C)</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Use a thermometer — read at eye level</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Water freezes at 0°C, boils at 100°C</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Time measured in seconds (s)</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Use a stopwatch — practise reaction time</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1 minute = 60 seconds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5 / 6</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Metric Prefixes &amp; Conversions</a:t>
            </a:r>
            <a:endParaRPr lang="en-US" sz="2600" dirty="0"/>
          </a:p>
        </p:txBody>
      </p:sp>
      <p:sp>
        <p:nvSpPr>
          <p:cNvPr id="5" name="Text 3"/>
          <p:cNvSpPr/>
          <p:nvPr/>
        </p:nvSpPr>
        <p:spPr>
          <a:xfrm>
            <a:off x="457200" y="1097280"/>
            <a:ext cx="8229600" cy="3657600"/>
          </a:xfrm>
          <a:prstGeom prst="rect">
            <a:avLst/>
          </a:prstGeom>
          <a:noFill/>
          <a:ln/>
        </p:spPr>
        <p:txBody>
          <a:bodyPr wrap="square" rtlCol="0" anchor="t"/>
          <a:lstStyle/>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kilo (k) = × 1000 — 1 km = 1000 m</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base unit: metre, gram, litre, second</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milli (m) = ÷ 1000 — 1 m = 1000 mm</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To convert larger → smaller: MULTIPLY</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To convert smaller → larger: DIVIDE</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Example: 2.5 km = 2.5 × 1000 = 2500 m</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Example: 450 mL = 450 ÷ 1000 = 0.45 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9C46A"/>
          </a:solidFill>
          <a:ln/>
        </p:spPr>
      </p:sp>
      <p:sp>
        <p:nvSpPr>
          <p:cNvPr id="3" name="Text 1"/>
          <p:cNvSpPr/>
          <p:nvPr/>
        </p:nvSpPr>
        <p:spPr>
          <a:xfrm>
            <a:off x="731520" y="457200"/>
            <a:ext cx="7772400" cy="73152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Key Takeaways</a:t>
            </a:r>
            <a:endParaRPr lang="en-US" sz="3200" dirty="0"/>
          </a:p>
        </p:txBody>
      </p:sp>
      <p:sp>
        <p:nvSpPr>
          <p:cNvPr id="4" name="Text 2"/>
          <p:cNvSpPr/>
          <p:nvPr/>
        </p:nvSpPr>
        <p:spPr>
          <a:xfrm>
            <a:off x="731520" y="1463040"/>
            <a:ext cx="7772400" cy="3200400"/>
          </a:xfrm>
          <a:prstGeom prst="rect">
            <a:avLst/>
          </a:prstGeom>
          <a:noFill/>
          <a:ln/>
        </p:spPr>
        <p:txBody>
          <a:bodyPr wrap="square" rtlCol="0" anchor="t"/>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SI units: metres (length), grams (mass), litres (volume), °C (temperature), seconds (time)</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Always read instruments at eye level</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Record units with every measurement</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kilo = ×1000, milli = ÷1000</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 fair test requires accurate, consistent measurement</a:t>
            </a:r>
            <a:endParaRPr lang="en-US" sz="1500" dirty="0"/>
          </a:p>
        </p:txBody>
      </p:sp>
      <p:sp>
        <p:nvSpPr>
          <p:cNvPr id="5" name="Text 3"/>
          <p:cNvSpPr/>
          <p:nvPr/>
        </p:nvSpPr>
        <p:spPr>
          <a:xfrm>
            <a:off x="731520" y="4572000"/>
            <a:ext cx="7772400" cy="365760"/>
          </a:xfrm>
          <a:prstGeom prst="rect">
            <a:avLst/>
          </a:prstGeom>
          <a:noFill/>
          <a:ln/>
        </p:spPr>
        <p:txBody>
          <a:bodyPr wrap="square" rtlCol="0" anchor="ctr"/>
          <a:lstStyle/>
          <a:p>
            <a:pPr indent="0" marL="0">
              <a:buNone/>
            </a:pPr>
            <a:r>
              <a:rPr lang="en-US" sz="1100" dirty="0">
                <a:solidFill>
                  <a:srgbClr val="E9C46A"/>
                </a:solidFill>
                <a:latin typeface="Calibri" pitchFamily="34" charset="0"/>
                <a:ea typeface="Calibri" pitchFamily="34" charset="-122"/>
                <a:cs typeface="Calibri" pitchFamily="34" charset="-120"/>
              </a:rPr>
              <a:t>mrzocchi.com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Measurement &amp; Units</dc:title>
  <dc:subject>PptxGenJS Presentation</dc:subject>
  <dc:creator>Mr Zocchi</dc:creator>
  <cp:lastModifiedBy>Mr Zocchi</cp:lastModifiedBy>
  <cp:revision>1</cp:revision>
  <dcterms:created xsi:type="dcterms:W3CDTF">2026-03-23T04:01:17Z</dcterms:created>
  <dcterms:modified xsi:type="dcterms:W3CDTF">2026-03-23T04:01:17Z</dcterms:modified>
</cp:coreProperties>
</file>