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C8372D"/>
          </a:solidFill>
          <a:ln/>
        </p:spPr>
      </p:sp>
      <p:sp>
        <p:nvSpPr>
          <p:cNvPr id="4" name="Shape 2"/>
          <p:cNvSpPr/>
          <p:nvPr/>
        </p:nvSpPr>
        <p:spPr>
          <a:xfrm>
            <a:off x="731520" y="731520"/>
            <a:ext cx="2011680" cy="411480"/>
          </a:xfrm>
          <a:prstGeom prst="roundRect">
            <a:avLst>
              <a:gd name="adj" fmla="val 33333"/>
            </a:avLst>
          </a:prstGeom>
          <a:solidFill>
            <a:srgbClr val="C8372D"/>
          </a:solidFill>
          <a:ln/>
        </p:spPr>
      </p:sp>
      <p:sp>
        <p:nvSpPr>
          <p:cNvPr id="5" name="Text 3"/>
          <p:cNvSpPr/>
          <p:nvPr/>
        </p:nvSpPr>
        <p:spPr>
          <a:xfrm>
            <a:off x="731520" y="731520"/>
            <a:ext cx="20116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GRADE 7 SCIENCE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731520" y="1828800"/>
            <a:ext cx="100584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Diffusion</a:t>
            </a:r>
            <a:endParaRPr lang="en-US" sz="4000" dirty="0"/>
          </a:p>
        </p:txBody>
      </p:sp>
      <p:sp>
        <p:nvSpPr>
          <p:cNvPr id="7" name="Text 5"/>
          <p:cNvSpPr/>
          <p:nvPr/>
        </p:nvSpPr>
        <p:spPr>
          <a:xfrm>
            <a:off x="731520" y="32004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E9C4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Term 2 · Biology — Cells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731520" y="56692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9C4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MR ZOCCHI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731520" y="603504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B969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mrzocchi.com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09728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182880"/>
            <a:ext cx="9144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🎯 Learning Objectives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9144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B66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By the end of this lesson, you will be able to: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731520" y="2011680"/>
            <a:ext cx="10515600" cy="594360"/>
          </a:xfrm>
          <a:prstGeom prst="roundRect">
            <a:avLst>
              <a:gd name="adj" fmla="val 15385"/>
            </a:avLst>
          </a:prstGeom>
          <a:solidFill>
            <a:srgbClr val="F3F1EE"/>
          </a:solidFill>
          <a:ln w="12700">
            <a:solidFill>
              <a:srgbClr val="E5E2DC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914400" y="2121408"/>
            <a:ext cx="365760" cy="365760"/>
          </a:xfrm>
          <a:prstGeom prst="ellipse">
            <a:avLst/>
          </a:prstGeom>
          <a:solidFill>
            <a:srgbClr val="C8372D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121408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1463040" y="2057400"/>
            <a:ext cx="9601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D3A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Define diffusion in terms of particle movement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731520" y="2743200"/>
            <a:ext cx="10515600" cy="594360"/>
          </a:xfrm>
          <a:prstGeom prst="roundRect">
            <a:avLst>
              <a:gd name="adj" fmla="val 15385"/>
            </a:avLst>
          </a:prstGeom>
          <a:solidFill>
            <a:srgbClr val="F3F1EE"/>
          </a:solidFill>
          <a:ln w="12700">
            <a:solidFill>
              <a:srgbClr val="E5E2DC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914400" y="2852928"/>
            <a:ext cx="365760" cy="365760"/>
          </a:xfrm>
          <a:prstGeom prst="ellipse">
            <a:avLst/>
          </a:prstGeom>
          <a:solidFill>
            <a:srgbClr val="C8372D"/>
          </a:solidFill>
          <a:ln/>
        </p:spPr>
      </p:sp>
      <p:sp>
        <p:nvSpPr>
          <p:cNvPr id="11" name="Text 9"/>
          <p:cNvSpPr/>
          <p:nvPr/>
        </p:nvSpPr>
        <p:spPr>
          <a:xfrm>
            <a:off x="914400" y="2852928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1463040" y="2788920"/>
            <a:ext cx="9601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D3A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Explain why diffusion happens (concentration gradient)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731520" y="3474720"/>
            <a:ext cx="10515600" cy="594360"/>
          </a:xfrm>
          <a:prstGeom prst="roundRect">
            <a:avLst>
              <a:gd name="adj" fmla="val 15385"/>
            </a:avLst>
          </a:prstGeom>
          <a:solidFill>
            <a:srgbClr val="F3F1EE"/>
          </a:solidFill>
          <a:ln w="12700">
            <a:solidFill>
              <a:srgbClr val="E5E2DC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914400" y="3584448"/>
            <a:ext cx="365760" cy="365760"/>
          </a:xfrm>
          <a:prstGeom prst="ellipse">
            <a:avLst/>
          </a:prstGeom>
          <a:solidFill>
            <a:srgbClr val="C8372D"/>
          </a:solidFill>
          <a:ln/>
        </p:spPr>
      </p:sp>
      <p:sp>
        <p:nvSpPr>
          <p:cNvPr id="15" name="Text 13"/>
          <p:cNvSpPr/>
          <p:nvPr/>
        </p:nvSpPr>
        <p:spPr>
          <a:xfrm>
            <a:off x="914400" y="3584448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1463040" y="3520440"/>
            <a:ext cx="9601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D3A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Give examples of diffusion in everyday life and biology</a:t>
            </a:r>
            <a:endParaRPr lang="en-US" sz="1500" dirty="0"/>
          </a:p>
        </p:txBody>
      </p:sp>
      <p:sp>
        <p:nvSpPr>
          <p:cNvPr id="17" name="Shape 15"/>
          <p:cNvSpPr/>
          <p:nvPr/>
        </p:nvSpPr>
        <p:spPr>
          <a:xfrm>
            <a:off x="731520" y="4206240"/>
            <a:ext cx="10515600" cy="594360"/>
          </a:xfrm>
          <a:prstGeom prst="roundRect">
            <a:avLst>
              <a:gd name="adj" fmla="val 15385"/>
            </a:avLst>
          </a:prstGeom>
          <a:solidFill>
            <a:srgbClr val="F3F1EE"/>
          </a:solidFill>
          <a:ln w="12700">
            <a:solidFill>
              <a:srgbClr val="E5E2D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14400" y="4315968"/>
            <a:ext cx="365760" cy="365760"/>
          </a:xfrm>
          <a:prstGeom prst="ellipse">
            <a:avLst/>
          </a:prstGeom>
          <a:solidFill>
            <a:srgbClr val="C8372D"/>
          </a:solidFill>
          <a:ln/>
        </p:spPr>
      </p:sp>
      <p:sp>
        <p:nvSpPr>
          <p:cNvPr id="19" name="Text 17"/>
          <p:cNvSpPr/>
          <p:nvPr/>
        </p:nvSpPr>
        <p:spPr>
          <a:xfrm>
            <a:off x="914400" y="4315968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1463040" y="4251960"/>
            <a:ext cx="9601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D3A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Describe factors that affect the rate of diffusion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0" y="6492240"/>
            <a:ext cx="12188952" cy="36576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22" name="Text 20"/>
          <p:cNvSpPr/>
          <p:nvPr/>
        </p:nvSpPr>
        <p:spPr>
          <a:xfrm>
            <a:off x="10058400" y="653796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E9C4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mrzocchi.com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09728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18288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What is Diffusion?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731520" y="1325880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B66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Diffusion is how substances spread out by themselves.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731520" y="1920240"/>
            <a:ext cx="10515600" cy="640080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6350">
            <a:solidFill>
              <a:srgbClr val="E5E2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05840" y="196596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D3A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The net movement of particles from high to low concentration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731520" y="2697480"/>
            <a:ext cx="10515600" cy="640080"/>
          </a:xfrm>
          <a:prstGeom prst="roundRect">
            <a:avLst>
              <a:gd name="adj" fmla="val 14286"/>
            </a:avLst>
          </a:prstGeom>
          <a:solidFill>
            <a:srgbClr val="F8F6F3"/>
          </a:solidFill>
          <a:ln w="6350">
            <a:solidFill>
              <a:srgbClr val="E5E2D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005840" y="27432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D3A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Particles move randomly in all directions (Brownian motion)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731520" y="3474720"/>
            <a:ext cx="10515600" cy="640080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6350">
            <a:solidFill>
              <a:srgbClr val="E5E2D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05840" y="352044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D3A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Overall, more particles move OUT of crowded areas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731520" y="4251960"/>
            <a:ext cx="10515600" cy="640080"/>
          </a:xfrm>
          <a:prstGeom prst="roundRect">
            <a:avLst>
              <a:gd name="adj" fmla="val 14286"/>
            </a:avLst>
          </a:prstGeom>
          <a:solidFill>
            <a:srgbClr val="F8F6F3"/>
          </a:solidFill>
          <a:ln w="6350">
            <a:solidFill>
              <a:srgbClr val="E5E2DC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005840" y="429768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D3A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Continues until particles are evenly spread (equilibrium)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731520" y="5029200"/>
            <a:ext cx="10515600" cy="640080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6350">
            <a:solidFill>
              <a:srgbClr val="E5E2D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005840" y="507492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D3A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No energy is needed — it is a passive process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0" y="6492240"/>
            <a:ext cx="12188952" cy="36576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16" name="Text 14"/>
          <p:cNvSpPr/>
          <p:nvPr/>
        </p:nvSpPr>
        <p:spPr>
          <a:xfrm>
            <a:off x="10058400" y="653796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E9C4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mrzocchi.com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09728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18288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Examples of Diffusion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48640" y="1371600"/>
            <a:ext cx="5303520" cy="4754880"/>
          </a:xfrm>
          <a:prstGeom prst="roundRect">
            <a:avLst>
              <a:gd name="adj" fmla="val 2885"/>
            </a:avLst>
          </a:prstGeom>
          <a:solidFill>
            <a:srgbClr val="FFFFFF"/>
          </a:solidFill>
          <a:ln w="19050">
            <a:solidFill>
              <a:srgbClr val="C8372D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48640" y="1371600"/>
            <a:ext cx="5303520" cy="502920"/>
          </a:xfrm>
          <a:prstGeom prst="rect">
            <a:avLst/>
          </a:prstGeom>
          <a:solidFill>
            <a:srgbClr val="C8372D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1371600"/>
            <a:ext cx="49377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Everyday Examples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914400" y="2103120"/>
            <a:ext cx="45720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D3A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Perfume spreading across a room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914400" y="2697480"/>
            <a:ext cx="45720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D3A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Tea bag colour spreading in hot water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914400" y="3291840"/>
            <a:ext cx="45720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D3A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Smell of cooking travelling to other rooms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914400" y="3886200"/>
            <a:ext cx="45720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D3A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Food colouring spreading in water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6309360" y="1371600"/>
            <a:ext cx="5303520" cy="4754880"/>
          </a:xfrm>
          <a:prstGeom prst="roundRect">
            <a:avLst>
              <a:gd name="adj" fmla="val 2885"/>
            </a:avLst>
          </a:prstGeom>
          <a:solidFill>
            <a:srgbClr val="FFFFFF"/>
          </a:solidFill>
          <a:ln w="19050">
            <a:solidFill>
              <a:srgbClr val="E9C46A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309360" y="1371600"/>
            <a:ext cx="5303520" cy="502920"/>
          </a:xfrm>
          <a:prstGeom prst="rect">
            <a:avLst/>
          </a:prstGeom>
          <a:solidFill>
            <a:srgbClr val="E9C46A"/>
          </a:solidFill>
          <a:ln/>
        </p:spPr>
      </p:sp>
      <p:sp>
        <p:nvSpPr>
          <p:cNvPr id="13" name="Text 11"/>
          <p:cNvSpPr/>
          <p:nvPr/>
        </p:nvSpPr>
        <p:spPr>
          <a:xfrm>
            <a:off x="6492240" y="1371600"/>
            <a:ext cx="49377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Biological Examples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6583680" y="2103120"/>
            <a:ext cx="45720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D3A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Oxygen moving from lungs into blood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6583680" y="2697480"/>
            <a:ext cx="45720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D3A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Carbon dioxide leaving blood into lungs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6583680" y="3291840"/>
            <a:ext cx="45720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D3A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Oxygen entering cells for respiration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6583680" y="3886200"/>
            <a:ext cx="45720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D3A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Nutrients absorbing through intestine walls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0" y="6492240"/>
            <a:ext cx="12188952" cy="36576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19" name="Text 17"/>
          <p:cNvSpPr/>
          <p:nvPr/>
        </p:nvSpPr>
        <p:spPr>
          <a:xfrm>
            <a:off x="10058400" y="653796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E9C4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mrzocchi.com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09728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182880"/>
            <a:ext cx="9144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📖 Key Vocabulary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48640" y="1371600"/>
            <a:ext cx="3383280" cy="1280160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12700">
            <a:solidFill>
              <a:srgbClr val="E5E2D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85800" y="1463040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837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Diffusion  扩散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685800" y="1828800"/>
            <a:ext cx="31089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66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Net movement of particles from high to low concentration.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160520" y="1371600"/>
            <a:ext cx="3383280" cy="1280160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12700">
            <a:solidFill>
              <a:srgbClr val="E5E2D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297680" y="1463040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837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Concentration  浓度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4297680" y="1828800"/>
            <a:ext cx="31089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66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many particles are in a given space.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7772400" y="1371600"/>
            <a:ext cx="3383280" cy="1280160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12700">
            <a:solidFill>
              <a:srgbClr val="E5E2DC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909560" y="1463040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837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Gradient  梯度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7909560" y="1828800"/>
            <a:ext cx="31089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66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difference in concentration between two areas.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548640" y="2834640"/>
            <a:ext cx="3383280" cy="1280160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12700">
            <a:solidFill>
              <a:srgbClr val="E5E2D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85800" y="2926080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837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Equilibrium  平衡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685800" y="3291840"/>
            <a:ext cx="31089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66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When particles are evenly spread — no net movement.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160520" y="2834640"/>
            <a:ext cx="3383280" cy="1280160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12700">
            <a:solidFill>
              <a:srgbClr val="E5E2DC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297680" y="2926080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837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Passive  被动的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297680" y="3291840"/>
            <a:ext cx="31089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66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Does not require energy — happens naturally.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7772400" y="2834640"/>
            <a:ext cx="3383280" cy="1280160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12700">
            <a:solidFill>
              <a:srgbClr val="E5E2DC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909560" y="2926080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837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Net Movement  净移动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7909560" y="3291840"/>
            <a:ext cx="31089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66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overall direction particles move (not individual ones).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0" y="6492240"/>
            <a:ext cx="12188952" cy="36576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23" name="Text 21"/>
          <p:cNvSpPr/>
          <p:nvPr/>
        </p:nvSpPr>
        <p:spPr>
          <a:xfrm>
            <a:off x="10058400" y="653796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E9C4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mrzocchi.com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09728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18288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Factors Affecting Diffusion Rate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731520" y="1371600"/>
            <a:ext cx="10515600" cy="640080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19050">
            <a:solidFill>
              <a:srgbClr val="C8372D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005840" y="1417320"/>
            <a:ext cx="3657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Temperature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4754880" y="1417320"/>
            <a:ext cx="62179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66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Higher temperature = faster particle movement = faster diffusion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731520" y="2148840"/>
            <a:ext cx="10515600" cy="640080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19050">
            <a:solidFill>
              <a:srgbClr val="C8372D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005840" y="2194560"/>
            <a:ext cx="3657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Concentration difference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4754880" y="2194560"/>
            <a:ext cx="62179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66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Bigger gradient = faster diffusion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731520" y="2926080"/>
            <a:ext cx="10515600" cy="640080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19050">
            <a:solidFill>
              <a:srgbClr val="C8372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005840" y="2971800"/>
            <a:ext cx="3657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Distance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4754880" y="2971800"/>
            <a:ext cx="62179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66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Shorter distance = faster diffusion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731520" y="3703320"/>
            <a:ext cx="10515600" cy="640080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19050">
            <a:solidFill>
              <a:srgbClr val="C8372D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005840" y="3749040"/>
            <a:ext cx="3657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Surface area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4754880" y="3749040"/>
            <a:ext cx="62179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66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Larger surface area = more particles can cross at once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0" y="6492240"/>
            <a:ext cx="12188952" cy="36576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17" name="Text 15"/>
          <p:cNvSpPr/>
          <p:nvPr/>
        </p:nvSpPr>
        <p:spPr>
          <a:xfrm>
            <a:off x="10058400" y="653796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E9C4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mrzocchi.com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09728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182880"/>
            <a:ext cx="9144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🧠 Check Your Understanding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48640" y="1371600"/>
            <a:ext cx="10972800" cy="502920"/>
          </a:xfrm>
          <a:prstGeom prst="roundRect">
            <a:avLst>
              <a:gd name="adj" fmla="val 14545"/>
            </a:avLst>
          </a:prstGeom>
          <a:solidFill>
            <a:srgbClr val="FFFFFF"/>
          </a:solidFill>
          <a:ln w="12700">
            <a:solidFill>
              <a:srgbClr val="C8372D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1389888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Q1: Define diffusion.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1097280" y="1965960"/>
            <a:ext cx="10424160" cy="502920"/>
          </a:xfrm>
          <a:prstGeom prst="roundRect">
            <a:avLst>
              <a:gd name="adj" fmla="val 14545"/>
            </a:avLst>
          </a:prstGeom>
          <a:solidFill>
            <a:srgbClr val="F3F1EE"/>
          </a:solidFill>
          <a:ln/>
        </p:spPr>
      </p:sp>
      <p:sp>
        <p:nvSpPr>
          <p:cNvPr id="7" name="Text 5"/>
          <p:cNvSpPr/>
          <p:nvPr/>
        </p:nvSpPr>
        <p:spPr>
          <a:xfrm>
            <a:off x="1371600" y="1984248"/>
            <a:ext cx="9875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B66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The net movement of particles from an area of high concentration to low concentration.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548640" y="2606040"/>
            <a:ext cx="10972800" cy="502920"/>
          </a:xfrm>
          <a:prstGeom prst="roundRect">
            <a:avLst>
              <a:gd name="adj" fmla="val 14545"/>
            </a:avLst>
          </a:prstGeom>
          <a:solidFill>
            <a:srgbClr val="FFFFFF"/>
          </a:solidFill>
          <a:ln w="12700">
            <a:solidFill>
              <a:srgbClr val="C8372D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22960" y="2624328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Q2: Why does perfume eventually fill a whole room?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1097280" y="3200400"/>
            <a:ext cx="10424160" cy="502920"/>
          </a:xfrm>
          <a:prstGeom prst="roundRect">
            <a:avLst>
              <a:gd name="adj" fmla="val 14545"/>
            </a:avLst>
          </a:prstGeom>
          <a:solidFill>
            <a:srgbClr val="F3F1EE"/>
          </a:solidFill>
          <a:ln/>
        </p:spPr>
      </p:sp>
      <p:sp>
        <p:nvSpPr>
          <p:cNvPr id="11" name="Text 9"/>
          <p:cNvSpPr/>
          <p:nvPr/>
        </p:nvSpPr>
        <p:spPr>
          <a:xfrm>
            <a:off x="1371600" y="3218688"/>
            <a:ext cx="9875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B66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Perfume particles diffuse from high concentration (near the bottle) to low concentration (rest of room).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548640" y="3840480"/>
            <a:ext cx="10972800" cy="502920"/>
          </a:xfrm>
          <a:prstGeom prst="roundRect">
            <a:avLst>
              <a:gd name="adj" fmla="val 14545"/>
            </a:avLst>
          </a:prstGeom>
          <a:solidFill>
            <a:srgbClr val="FFFFFF"/>
          </a:solidFill>
          <a:ln w="12700">
            <a:solidFill>
              <a:srgbClr val="C8372D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22960" y="3858768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Q3: Name two factors that speed up diffusion.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1097280" y="4434840"/>
            <a:ext cx="10424160" cy="502920"/>
          </a:xfrm>
          <a:prstGeom prst="roundRect">
            <a:avLst>
              <a:gd name="adj" fmla="val 14545"/>
            </a:avLst>
          </a:prstGeom>
          <a:solidFill>
            <a:srgbClr val="F3F1EE"/>
          </a:solidFill>
          <a:ln/>
        </p:spPr>
      </p:sp>
      <p:sp>
        <p:nvSpPr>
          <p:cNvPr id="15" name="Text 13"/>
          <p:cNvSpPr/>
          <p:nvPr/>
        </p:nvSpPr>
        <p:spPr>
          <a:xfrm>
            <a:off x="1371600" y="4453128"/>
            <a:ext cx="9875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B66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Higher temperature and steeper concentration gradient (any two of: temperature, gradient, surface area, shorter distance).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548640" y="5074920"/>
            <a:ext cx="10972800" cy="502920"/>
          </a:xfrm>
          <a:prstGeom prst="roundRect">
            <a:avLst>
              <a:gd name="adj" fmla="val 14545"/>
            </a:avLst>
          </a:prstGeom>
          <a:solidFill>
            <a:srgbClr val="FFFFFF"/>
          </a:solidFill>
          <a:ln w="12700">
            <a:solidFill>
              <a:srgbClr val="C8372D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22960" y="5093208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Q4: Does diffusion require energy?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1097280" y="5669280"/>
            <a:ext cx="10424160" cy="502920"/>
          </a:xfrm>
          <a:prstGeom prst="roundRect">
            <a:avLst>
              <a:gd name="adj" fmla="val 14545"/>
            </a:avLst>
          </a:prstGeom>
          <a:solidFill>
            <a:srgbClr val="F3F1EE"/>
          </a:solidFill>
          <a:ln/>
        </p:spPr>
      </p:sp>
      <p:sp>
        <p:nvSpPr>
          <p:cNvPr id="19" name="Text 17"/>
          <p:cNvSpPr/>
          <p:nvPr/>
        </p:nvSpPr>
        <p:spPr>
          <a:xfrm>
            <a:off x="1371600" y="5687568"/>
            <a:ext cx="9875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B66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No — it is a passive process driven by random particle movement.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0" y="6492240"/>
            <a:ext cx="12188952" cy="36576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0" y="653796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E9C4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mrzocchi.com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09728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182880"/>
            <a:ext cx="9144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📌 Key Takeaways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731520" y="1463040"/>
            <a:ext cx="10515600" cy="6858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9050">
            <a:solidFill>
              <a:srgbClr val="C8372D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14400" y="1554480"/>
            <a:ext cx="365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C837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1371600" y="1554480"/>
            <a:ext cx="9601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D3A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Diffusion = net movement from high to low concentration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731520" y="2286000"/>
            <a:ext cx="10515600" cy="6858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9050">
            <a:solidFill>
              <a:srgbClr val="C8372D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14400" y="2377440"/>
            <a:ext cx="365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C837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1371600" y="2377440"/>
            <a:ext cx="9601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D3A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 is passive — no energy required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731520" y="3108960"/>
            <a:ext cx="10515600" cy="6858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9050">
            <a:solidFill>
              <a:srgbClr val="C8372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14400" y="3200400"/>
            <a:ext cx="365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C837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1371600" y="3200400"/>
            <a:ext cx="9601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D3A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Happens faster with higher temperature and steeper gradient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731520" y="3931920"/>
            <a:ext cx="10515600" cy="6858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9050">
            <a:solidFill>
              <a:srgbClr val="C8372D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914400" y="4023360"/>
            <a:ext cx="365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C837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1371600" y="4023360"/>
            <a:ext cx="9601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D3A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Examples: oxygen in lungs, perfume in a room, tea diffusing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731520" y="4754880"/>
            <a:ext cx="10515600" cy="6858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9050">
            <a:solidFill>
              <a:srgbClr val="C8372D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14400" y="4846320"/>
            <a:ext cx="365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C837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1371600" y="4846320"/>
            <a:ext cx="9601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D3A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Stops at equilibrium when particles are evenly spread</a:t>
            </a:r>
            <a:endParaRPr lang="en-US" sz="1500" dirty="0"/>
          </a:p>
        </p:txBody>
      </p:sp>
      <p:sp>
        <p:nvSpPr>
          <p:cNvPr id="19" name="Shape 17"/>
          <p:cNvSpPr/>
          <p:nvPr/>
        </p:nvSpPr>
        <p:spPr>
          <a:xfrm>
            <a:off x="0" y="6492240"/>
            <a:ext cx="12188952" cy="36576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20" name="Text 18"/>
          <p:cNvSpPr/>
          <p:nvPr/>
        </p:nvSpPr>
        <p:spPr>
          <a:xfrm>
            <a:off x="10058400" y="653796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E9C4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mrzocchi.com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6400800"/>
            <a:ext cx="12188952" cy="73152"/>
          </a:xfrm>
          <a:prstGeom prst="rect">
            <a:avLst/>
          </a:prstGeom>
          <a:solidFill>
            <a:srgbClr val="C8372D"/>
          </a:solidFill>
          <a:ln/>
        </p:spPr>
      </p:sp>
      <p:sp>
        <p:nvSpPr>
          <p:cNvPr id="4" name="Text 2"/>
          <p:cNvSpPr/>
          <p:nvPr/>
        </p:nvSpPr>
        <p:spPr>
          <a:xfrm>
            <a:off x="0" y="1828800"/>
            <a:ext cx="12188952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Keep Practising!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0" y="3017520"/>
            <a:ext cx="12188952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E9C4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the Self-Quiz and Review Games on mrzocchi.com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0" y="5029200"/>
            <a:ext cx="1218895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9B969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mrzocchi.com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Diffusion</dc:title>
  <dc:subject>PptxGenJS Presentation</dc:subject>
  <dc:creator>Mr Zocchi</dc:creator>
  <cp:lastModifiedBy>Mr Zocchi</cp:lastModifiedBy>
  <cp:revision>1</cp:revision>
  <dcterms:created xsi:type="dcterms:W3CDTF">2026-03-24T11:30:53Z</dcterms:created>
  <dcterms:modified xsi:type="dcterms:W3CDTF">2026-03-24T11:30:53Z</dcterms:modified>
</cp:coreProperties>
</file>