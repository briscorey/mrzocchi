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A9D8F"/>
          </a:solidFill>
          <a:ln/>
        </p:spPr>
      </p:sp>
      <p:sp>
        <p:nvSpPr>
          <p:cNvPr id="3" name="Text 1"/>
          <p:cNvSpPr/>
          <p:nvPr/>
        </p:nvSpPr>
        <p:spPr>
          <a:xfrm>
            <a:off x="731520" y="1097280"/>
            <a:ext cx="7772400" cy="13716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Collecting &amp; Organising Data</a:t>
            </a:r>
            <a:endParaRPr lang="en-US" sz="4000" dirty="0"/>
          </a:p>
        </p:txBody>
      </p:sp>
      <p:sp>
        <p:nvSpPr>
          <p:cNvPr id="4" name="Text 2"/>
          <p:cNvSpPr/>
          <p:nvPr/>
        </p:nvSpPr>
        <p:spPr>
          <a:xfrm>
            <a:off x="731520" y="2560320"/>
            <a:ext cx="7772400" cy="548640"/>
          </a:xfrm>
          <a:prstGeom prst="rect">
            <a:avLst/>
          </a:prstGeom>
          <a:noFill/>
          <a:ln/>
        </p:spPr>
        <p:txBody>
          <a:bodyPr wrap="square" rtlCol="0" anchor="ctr"/>
          <a:lstStyle/>
          <a:p>
            <a:pPr indent="0" marL="0">
              <a:buNone/>
            </a:pPr>
            <a:r>
              <a:rPr lang="en-US" sz="1600" dirty="0">
                <a:solidFill>
                  <a:srgbClr val="E9C46A"/>
                </a:solidFill>
                <a:latin typeface="Calibri" pitchFamily="34" charset="0"/>
                <a:ea typeface="Calibri" pitchFamily="34" charset="-122"/>
                <a:cs typeface="Calibri" pitchFamily="34" charset="-120"/>
              </a:rPr>
              <a:t>Grade 6 Mathematics · Mr Zocchi</a:t>
            </a:r>
            <a:endParaRPr lang="en-US" sz="1600" dirty="0"/>
          </a:p>
        </p:txBody>
      </p:sp>
      <p:sp>
        <p:nvSpPr>
          <p:cNvPr id="5" name="Shape 3"/>
          <p:cNvSpPr/>
          <p:nvPr/>
        </p:nvSpPr>
        <p:spPr>
          <a:xfrm>
            <a:off x="731520" y="3474720"/>
            <a:ext cx="2011680" cy="411480"/>
          </a:xfrm>
          <a:prstGeom prst="roundRect">
            <a:avLst>
              <a:gd name="adj" fmla="val 17778"/>
            </a:avLst>
          </a:prstGeom>
          <a:solidFill>
            <a:srgbClr val="2A9D8F"/>
          </a:solidFill>
          <a:ln/>
        </p:spPr>
      </p:sp>
      <p:sp>
        <p:nvSpPr>
          <p:cNvPr id="6" name="Text 4"/>
          <p:cNvSpPr/>
          <p:nvPr/>
        </p:nvSpPr>
        <p:spPr>
          <a:xfrm>
            <a:off x="731520" y="3474720"/>
            <a:ext cx="2011680" cy="4114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Term 5 · Probability &amp; Statistics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2 / 5</a:t>
            </a:r>
            <a:endParaRPr lang="en-US" sz="900" dirty="0"/>
          </a:p>
        </p:txBody>
      </p:sp>
      <p:sp>
        <p:nvSpPr>
          <p:cNvPr id="4" name="Shape 2"/>
          <p:cNvSpPr/>
          <p:nvPr/>
        </p:nvSpPr>
        <p:spPr>
          <a:xfrm>
            <a:off x="1371600" y="914400"/>
            <a:ext cx="6400800" cy="32004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5" name="Shape 3"/>
          <p:cNvSpPr/>
          <p:nvPr/>
        </p:nvSpPr>
        <p:spPr>
          <a:xfrm>
            <a:off x="1371600" y="914400"/>
            <a:ext cx="91440" cy="3200400"/>
          </a:xfrm>
          <a:prstGeom prst="rect">
            <a:avLst/>
          </a:prstGeom>
          <a:solidFill>
            <a:srgbClr val="2A9D8F"/>
          </a:solidFill>
          <a:ln/>
        </p:spPr>
      </p:sp>
      <p:sp>
        <p:nvSpPr>
          <p:cNvPr id="6" name="Text 4"/>
          <p:cNvSpPr/>
          <p:nvPr/>
        </p:nvSpPr>
        <p:spPr>
          <a:xfrm>
            <a:off x="1828800" y="1097280"/>
            <a:ext cx="5669280" cy="640080"/>
          </a:xfrm>
          <a:prstGeom prst="rect">
            <a:avLst/>
          </a:prstGeom>
          <a:noFill/>
          <a:ln/>
        </p:spPr>
        <p:txBody>
          <a:bodyPr wrap="square" rtlCol="0" anchor="ctr"/>
          <a:lstStyle/>
          <a:p>
            <a:pPr indent="0" marL="0">
              <a:buNone/>
            </a:pPr>
            <a:r>
              <a:rPr lang="en-US" sz="2400" b="1" dirty="0">
                <a:solidFill>
                  <a:srgbClr val="1B2A4A"/>
                </a:solidFill>
                <a:latin typeface="Georgia" pitchFamily="34" charset="0"/>
                <a:ea typeface="Georgia" pitchFamily="34" charset="-122"/>
                <a:cs typeface="Georgia" pitchFamily="34" charset="-120"/>
              </a:rPr>
              <a:t>Data Collection</a:t>
            </a:r>
            <a:endParaRPr lang="en-US" sz="2400" dirty="0"/>
          </a:p>
        </p:txBody>
      </p:sp>
      <p:sp>
        <p:nvSpPr>
          <p:cNvPr id="7" name="Text 5"/>
          <p:cNvSpPr/>
          <p:nvPr/>
        </p:nvSpPr>
        <p:spPr>
          <a:xfrm>
            <a:off x="1828800" y="1828800"/>
            <a:ext cx="5669280" cy="2011680"/>
          </a:xfrm>
          <a:prstGeom prst="rect">
            <a:avLst/>
          </a:prstGeom>
          <a:noFill/>
          <a:ln/>
        </p:spPr>
        <p:txBody>
          <a:bodyPr wrap="square" rtlCol="0" anchor="t"/>
          <a:lstStyle/>
          <a:p>
            <a:pPr indent="0" marL="0">
              <a:lnSpc>
                <a:spcPct val="130000"/>
              </a:lnSpc>
              <a:buNone/>
            </a:pPr>
            <a:r>
              <a:rPr lang="en-US" sz="1500" dirty="0">
                <a:solidFill>
                  <a:srgbClr val="3D3A36"/>
                </a:solidFill>
                <a:latin typeface="Calibri" pitchFamily="34" charset="0"/>
                <a:ea typeface="Calibri" pitchFamily="34" charset="-122"/>
                <a:cs typeface="Calibri" pitchFamily="34" charset="-120"/>
              </a:rPr>
              <a:t>Statistics is about collecting, organising, and interpreting data to answer questions. Good data collection uses clear questions, appropriate methods, and large enough samples. The two main types of data are qualitative (descriptive) and quantitative (numerical).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3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Types of Data</a:t>
            </a:r>
            <a:endParaRPr lang="en-US" sz="2600" dirty="0"/>
          </a:p>
        </p:txBody>
      </p:sp>
      <p:sp>
        <p:nvSpPr>
          <p:cNvPr id="5" name="Shape 3"/>
          <p:cNvSpPr/>
          <p:nvPr/>
        </p:nvSpPr>
        <p:spPr>
          <a:xfrm>
            <a:off x="45720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2560320" cy="54864"/>
          </a:xfrm>
          <a:prstGeom prst="rect">
            <a:avLst/>
          </a:prstGeom>
          <a:solidFill>
            <a:srgbClr val="2A9D8F"/>
          </a:solidFill>
          <a:ln/>
        </p:spPr>
      </p:sp>
      <p:sp>
        <p:nvSpPr>
          <p:cNvPr id="7" name="Text 5"/>
          <p:cNvSpPr/>
          <p:nvPr/>
        </p:nvSpPr>
        <p:spPr>
          <a:xfrm>
            <a:off x="59436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Qualitative</a:t>
            </a:r>
            <a:endParaRPr lang="en-US" sz="1400" dirty="0"/>
          </a:p>
        </p:txBody>
      </p:sp>
      <p:sp>
        <p:nvSpPr>
          <p:cNvPr id="8" name="Text 6"/>
          <p:cNvSpPr/>
          <p:nvPr/>
        </p:nvSpPr>
        <p:spPr>
          <a:xfrm>
            <a:off x="59436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Descriptive, non-numerical. Colours, names, opinions. Example: 'What is your favourite sport?' Answers: football, basketball, swimming.</a:t>
            </a:r>
            <a:endParaRPr lang="en-US" sz="1100" dirty="0"/>
          </a:p>
        </p:txBody>
      </p:sp>
      <p:sp>
        <p:nvSpPr>
          <p:cNvPr id="9" name="Shape 7"/>
          <p:cNvSpPr/>
          <p:nvPr/>
        </p:nvSpPr>
        <p:spPr>
          <a:xfrm>
            <a:off x="329184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0" name="Shape 8"/>
          <p:cNvSpPr/>
          <p:nvPr/>
        </p:nvSpPr>
        <p:spPr>
          <a:xfrm>
            <a:off x="3291840" y="1188720"/>
            <a:ext cx="2560320" cy="54864"/>
          </a:xfrm>
          <a:prstGeom prst="rect">
            <a:avLst/>
          </a:prstGeom>
          <a:solidFill>
            <a:srgbClr val="2A9D8F"/>
          </a:solidFill>
          <a:ln/>
        </p:spPr>
      </p:sp>
      <p:sp>
        <p:nvSpPr>
          <p:cNvPr id="11" name="Text 9"/>
          <p:cNvSpPr/>
          <p:nvPr/>
        </p:nvSpPr>
        <p:spPr>
          <a:xfrm>
            <a:off x="342900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Discrete</a:t>
            </a:r>
            <a:endParaRPr lang="en-US" sz="1400" dirty="0"/>
          </a:p>
        </p:txBody>
      </p:sp>
      <p:sp>
        <p:nvSpPr>
          <p:cNvPr id="12" name="Text 10"/>
          <p:cNvSpPr/>
          <p:nvPr/>
        </p:nvSpPr>
        <p:spPr>
          <a:xfrm>
            <a:off x="342900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Countable numbers. Can only take specific values. Example: number of pets (0, 1, 2, 3...). You can't have 2.5 pets.</a:t>
            </a:r>
            <a:endParaRPr lang="en-US" sz="1100" dirty="0"/>
          </a:p>
        </p:txBody>
      </p:sp>
      <p:sp>
        <p:nvSpPr>
          <p:cNvPr id="13" name="Shape 11"/>
          <p:cNvSpPr/>
          <p:nvPr/>
        </p:nvSpPr>
        <p:spPr>
          <a:xfrm>
            <a:off x="612648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4" name="Shape 12"/>
          <p:cNvSpPr/>
          <p:nvPr/>
        </p:nvSpPr>
        <p:spPr>
          <a:xfrm>
            <a:off x="6126480" y="1188720"/>
            <a:ext cx="2560320" cy="54864"/>
          </a:xfrm>
          <a:prstGeom prst="rect">
            <a:avLst/>
          </a:prstGeom>
          <a:solidFill>
            <a:srgbClr val="2A9D8F"/>
          </a:solidFill>
          <a:ln/>
        </p:spPr>
      </p:sp>
      <p:sp>
        <p:nvSpPr>
          <p:cNvPr id="15" name="Text 13"/>
          <p:cNvSpPr/>
          <p:nvPr/>
        </p:nvSpPr>
        <p:spPr>
          <a:xfrm>
            <a:off x="626364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Continuous</a:t>
            </a:r>
            <a:endParaRPr lang="en-US" sz="1400" dirty="0"/>
          </a:p>
        </p:txBody>
      </p:sp>
      <p:sp>
        <p:nvSpPr>
          <p:cNvPr id="16" name="Text 14"/>
          <p:cNvSpPr/>
          <p:nvPr/>
        </p:nvSpPr>
        <p:spPr>
          <a:xfrm>
            <a:off x="626364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Measured numbers. Can take ANY value in a range. Example: height (162.5 cm), temperature (37.2°C). Need measuring instruments.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4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Data Collection Methods</a:t>
            </a:r>
            <a:endParaRPr lang="en-US" sz="2600" dirty="0"/>
          </a:p>
        </p:txBody>
      </p:sp>
      <p:sp>
        <p:nvSpPr>
          <p:cNvPr id="5" name="Text 3"/>
          <p:cNvSpPr/>
          <p:nvPr/>
        </p:nvSpPr>
        <p:spPr>
          <a:xfrm>
            <a:off x="457200" y="1188720"/>
            <a:ext cx="3840480" cy="3474720"/>
          </a:xfrm>
          <a:prstGeom prst="rect">
            <a:avLst/>
          </a:prstGeom>
          <a:noFill/>
          <a:ln/>
        </p:spPr>
        <p:txBody>
          <a:bodyPr wrap="square" rtlCol="0" anchor="t"/>
          <a:lstStyle/>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Surveys/questionnaires: ask questions to a sample</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Observation: watch and record what happens</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Experiments: test variables, collect results</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Databases/secondary data: use existing data sources</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Key: questions must be clear, unbiased, with limited options</a:t>
            </a:r>
            <a:endParaRPr lang="en-US" sz="1400" dirty="0"/>
          </a:p>
        </p:txBody>
      </p:sp>
      <p:sp>
        <p:nvSpPr>
          <p:cNvPr id="6" name="Shape 4"/>
          <p:cNvSpPr/>
          <p:nvPr/>
        </p:nvSpPr>
        <p:spPr>
          <a:xfrm>
            <a:off x="4846320" y="1188720"/>
            <a:ext cx="3840480" cy="347472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7" name="Shape 5"/>
          <p:cNvSpPr/>
          <p:nvPr/>
        </p:nvSpPr>
        <p:spPr>
          <a:xfrm>
            <a:off x="4846320" y="1188720"/>
            <a:ext cx="3840480" cy="54864"/>
          </a:xfrm>
          <a:prstGeom prst="rect">
            <a:avLst/>
          </a:prstGeom>
          <a:solidFill>
            <a:srgbClr val="2A9D8F"/>
          </a:solidFill>
          <a:ln/>
        </p:spPr>
      </p:sp>
      <p:sp>
        <p:nvSpPr>
          <p:cNvPr id="8" name="Text 6"/>
          <p:cNvSpPr/>
          <p:nvPr/>
        </p:nvSpPr>
        <p:spPr>
          <a:xfrm>
            <a:off x="5120640" y="1371600"/>
            <a:ext cx="3291840" cy="3108960"/>
          </a:xfrm>
          <a:prstGeom prst="rect">
            <a:avLst/>
          </a:prstGeom>
          <a:noFill/>
          <a:ln/>
        </p:spPr>
        <p:txBody>
          <a:bodyPr wrap="square" rtlCol="0" anchor="t"/>
          <a:lstStyle/>
          <a:p>
            <a:pPr indent="0" marL="0">
              <a:spcAft>
                <a:spcPts val="400"/>
              </a:spcAft>
              <a:buNone/>
            </a:pPr>
            <a:r>
              <a:rPr lang="en-US" sz="1600" b="1" dirty="0">
                <a:solidFill>
                  <a:srgbClr val="1B2A4A"/>
                </a:solidFill>
                <a:latin typeface="Calibri" pitchFamily="34" charset="0"/>
                <a:ea typeface="Calibri" pitchFamily="34" charset="-122"/>
                <a:cs typeface="Calibri" pitchFamily="34" charset="-120"/>
              </a:rPr>
              <a:t>Organising Data</a:t>
            </a:r>
            <a:endParaRPr lang="en-US" sz="1600" dirty="0"/>
          </a:p>
          <a:p>
            <a:pPr indent="0" marL="0">
              <a:spcAft>
                <a:spcPts val="400"/>
              </a:spcAft>
              <a:buNone/>
            </a:pP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Tally charts: quick counting, group in fives</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Frequency tables: list categories with their counts</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Two-way tables: compare two categories</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Grouped frequency tables: for continuous data (e.g. 0–9, 10–19, 20–29)</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Choose groups of equal width, no gaps, no overlaps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9C46A"/>
          </a:solidFill>
          <a:ln/>
        </p:spPr>
      </p:sp>
      <p:sp>
        <p:nvSpPr>
          <p:cNvPr id="3" name="Text 1"/>
          <p:cNvSpPr/>
          <p:nvPr/>
        </p:nvSpPr>
        <p:spPr>
          <a:xfrm>
            <a:off x="731520" y="457200"/>
            <a:ext cx="7772400" cy="73152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Key Takeaways</a:t>
            </a:r>
            <a:endParaRPr lang="en-US" sz="3200" dirty="0"/>
          </a:p>
        </p:txBody>
      </p:sp>
      <p:sp>
        <p:nvSpPr>
          <p:cNvPr id="4" name="Text 2"/>
          <p:cNvSpPr/>
          <p:nvPr/>
        </p:nvSpPr>
        <p:spPr>
          <a:xfrm>
            <a:off x="731520" y="1463040"/>
            <a:ext cx="7772400" cy="3200400"/>
          </a:xfrm>
          <a:prstGeom prst="rect">
            <a:avLst/>
          </a:prstGeom>
          <a:noFill/>
          <a:ln/>
        </p:spPr>
        <p:txBody>
          <a:bodyPr wrap="square" rtlCol="0" anchor="t"/>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Qualitative = descriptive; quantitative = numerical (discrete or continuous)</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Good surveys: clear questions, no bias, appropriate sample size</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Tally charts, frequency tables, two-way tables for organising</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Grouped data: equal width groups, no gaps or overlaps</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Always consider whether data collection method is fair and reliable</a:t>
            </a:r>
            <a:endParaRPr lang="en-US" sz="1500" dirty="0"/>
          </a:p>
        </p:txBody>
      </p:sp>
      <p:sp>
        <p:nvSpPr>
          <p:cNvPr id="5" name="Text 3"/>
          <p:cNvSpPr/>
          <p:nvPr/>
        </p:nvSpPr>
        <p:spPr>
          <a:xfrm>
            <a:off x="731520" y="4572000"/>
            <a:ext cx="7772400" cy="365760"/>
          </a:xfrm>
          <a:prstGeom prst="rect">
            <a:avLst/>
          </a:prstGeom>
          <a:noFill/>
          <a:ln/>
        </p:spPr>
        <p:txBody>
          <a:bodyPr wrap="square" rtlCol="0" anchor="ctr"/>
          <a:lstStyle/>
          <a:p>
            <a:pPr indent="0" marL="0">
              <a:buNone/>
            </a:pPr>
            <a:r>
              <a:rPr lang="en-US" sz="1100" dirty="0">
                <a:solidFill>
                  <a:srgbClr val="E9C46A"/>
                </a:solidFill>
                <a:latin typeface="Calibri" pitchFamily="34" charset="0"/>
                <a:ea typeface="Calibri" pitchFamily="34" charset="-122"/>
                <a:cs typeface="Calibri" pitchFamily="34" charset="-120"/>
              </a:rPr>
              <a:t>mrzocchi.com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Collecting &amp; Organising Data</dc:title>
  <dc:subject>PptxGenJS Presentation</dc:subject>
  <dc:creator>Mr Zocchi</dc:creator>
  <cp:lastModifiedBy>Mr Zocchi</cp:lastModifiedBy>
  <cp:revision>1</cp:revision>
  <dcterms:created xsi:type="dcterms:W3CDTF">2026-03-23T04:01:17Z</dcterms:created>
  <dcterms:modified xsi:type="dcterms:W3CDTF">2026-03-23T04:01:17Z</dcterms:modified>
</cp:coreProperties>
</file>