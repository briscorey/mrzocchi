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A4A"/>
        </a:solidFill>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2A9D8F"/>
          </a:solidFill>
          <a:ln/>
        </p:spPr>
      </p:sp>
      <p:sp>
        <p:nvSpPr>
          <p:cNvPr id="3" name="Text 1"/>
          <p:cNvSpPr/>
          <p:nvPr/>
        </p:nvSpPr>
        <p:spPr>
          <a:xfrm>
            <a:off x="731520" y="1097280"/>
            <a:ext cx="7772400" cy="1371600"/>
          </a:xfrm>
          <a:prstGeom prst="rect">
            <a:avLst/>
          </a:prstGeom>
          <a:noFill/>
          <a:ln/>
        </p:spPr>
        <p:txBody>
          <a:bodyPr wrap="square" rtlCol="0" anchor="ctr"/>
          <a:lstStyle/>
          <a:p>
            <a:pPr indent="0" marL="0">
              <a:buNone/>
            </a:pPr>
            <a:r>
              <a:rPr lang="en-US" sz="4000" b="1" dirty="0">
                <a:solidFill>
                  <a:srgbClr val="FFFFFF"/>
                </a:solidFill>
                <a:latin typeface="Georgia" pitchFamily="34" charset="0"/>
                <a:ea typeface="Georgia" pitchFamily="34" charset="-122"/>
                <a:cs typeface="Georgia" pitchFamily="34" charset="-120"/>
              </a:rPr>
              <a:t>Experimental vs Theoretical Probability</a:t>
            </a:r>
            <a:endParaRPr lang="en-US" sz="4000" dirty="0"/>
          </a:p>
        </p:txBody>
      </p:sp>
      <p:sp>
        <p:nvSpPr>
          <p:cNvPr id="4" name="Text 2"/>
          <p:cNvSpPr/>
          <p:nvPr/>
        </p:nvSpPr>
        <p:spPr>
          <a:xfrm>
            <a:off x="731520" y="2560320"/>
            <a:ext cx="7772400" cy="548640"/>
          </a:xfrm>
          <a:prstGeom prst="rect">
            <a:avLst/>
          </a:prstGeom>
          <a:noFill/>
          <a:ln/>
        </p:spPr>
        <p:txBody>
          <a:bodyPr wrap="square" rtlCol="0" anchor="ctr"/>
          <a:lstStyle/>
          <a:p>
            <a:pPr indent="0" marL="0">
              <a:buNone/>
            </a:pPr>
            <a:r>
              <a:rPr lang="en-US" sz="1600" dirty="0">
                <a:solidFill>
                  <a:srgbClr val="E9C46A"/>
                </a:solidFill>
                <a:latin typeface="Calibri" pitchFamily="34" charset="0"/>
                <a:ea typeface="Calibri" pitchFamily="34" charset="-122"/>
                <a:cs typeface="Calibri" pitchFamily="34" charset="-120"/>
              </a:rPr>
              <a:t>Grade 6 Mathematics · Mr Zocchi</a:t>
            </a:r>
            <a:endParaRPr lang="en-US" sz="1600" dirty="0"/>
          </a:p>
        </p:txBody>
      </p:sp>
      <p:sp>
        <p:nvSpPr>
          <p:cNvPr id="5" name="Shape 3"/>
          <p:cNvSpPr/>
          <p:nvPr/>
        </p:nvSpPr>
        <p:spPr>
          <a:xfrm>
            <a:off x="731520" y="3474720"/>
            <a:ext cx="2011680" cy="411480"/>
          </a:xfrm>
          <a:prstGeom prst="roundRect">
            <a:avLst>
              <a:gd name="adj" fmla="val 17778"/>
            </a:avLst>
          </a:prstGeom>
          <a:solidFill>
            <a:srgbClr val="2A9D8F"/>
          </a:solidFill>
          <a:ln/>
        </p:spPr>
      </p:sp>
      <p:sp>
        <p:nvSpPr>
          <p:cNvPr id="6" name="Text 4"/>
          <p:cNvSpPr/>
          <p:nvPr/>
        </p:nvSpPr>
        <p:spPr>
          <a:xfrm>
            <a:off x="731520" y="3474720"/>
            <a:ext cx="2011680" cy="411480"/>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Term 5 · Probability &amp; Statistics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8F5"/>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2A9D8F"/>
          </a:solidFill>
          <a:ln/>
        </p:spPr>
      </p:sp>
      <p:sp>
        <p:nvSpPr>
          <p:cNvPr id="3" name="Text 1"/>
          <p:cNvSpPr/>
          <p:nvPr/>
        </p:nvSpPr>
        <p:spPr>
          <a:xfrm>
            <a:off x="7772400" y="4709160"/>
            <a:ext cx="1097280" cy="320040"/>
          </a:xfrm>
          <a:prstGeom prst="rect">
            <a:avLst/>
          </a:prstGeom>
          <a:noFill/>
          <a:ln/>
        </p:spPr>
        <p:txBody>
          <a:bodyPr wrap="square" rtlCol="0" anchor="ctr"/>
          <a:lstStyle/>
          <a:p>
            <a:pPr algn="r" indent="0" marL="0">
              <a:buNone/>
            </a:pPr>
            <a:r>
              <a:rPr lang="en-US" sz="900" dirty="0">
                <a:solidFill>
                  <a:srgbClr val="6B6660"/>
                </a:solidFill>
                <a:latin typeface="Calibri" pitchFamily="34" charset="0"/>
                <a:ea typeface="Calibri" pitchFamily="34" charset="-122"/>
                <a:cs typeface="Calibri" pitchFamily="34" charset="-120"/>
              </a:rPr>
              <a:t>2 / 5</a:t>
            </a:r>
            <a:endParaRPr lang="en-US" sz="900" dirty="0"/>
          </a:p>
        </p:txBody>
      </p:sp>
      <p:sp>
        <p:nvSpPr>
          <p:cNvPr id="4" name="Shape 2"/>
          <p:cNvSpPr/>
          <p:nvPr/>
        </p:nvSpPr>
        <p:spPr>
          <a:xfrm>
            <a:off x="1371600" y="914400"/>
            <a:ext cx="6400800" cy="3200400"/>
          </a:xfrm>
          <a:prstGeom prst="rect">
            <a:avLst/>
          </a:prstGeom>
          <a:solidFill>
            <a:srgbClr val="FFFFFF"/>
          </a:solidFill>
          <a:ln w="12700">
            <a:solidFill>
              <a:srgbClr val="E5E2DC"/>
            </a:solidFill>
            <a:prstDash val="solid"/>
          </a:ln>
          <a:effectLst>
            <a:outerShdw sx="100000" sy="100000" kx="0" ky="0" algn="bl" rotWithShape="0" blurRad="50800" dist="25400" dir="8100000">
              <a:srgbClr val="000000">
                <a:alpha val="10000"/>
              </a:srgbClr>
            </a:outerShdw>
          </a:effectLst>
        </p:spPr>
      </p:sp>
      <p:sp>
        <p:nvSpPr>
          <p:cNvPr id="5" name="Shape 3"/>
          <p:cNvSpPr/>
          <p:nvPr/>
        </p:nvSpPr>
        <p:spPr>
          <a:xfrm>
            <a:off x="1371600" y="914400"/>
            <a:ext cx="91440" cy="3200400"/>
          </a:xfrm>
          <a:prstGeom prst="rect">
            <a:avLst/>
          </a:prstGeom>
          <a:solidFill>
            <a:srgbClr val="2A9D8F"/>
          </a:solidFill>
          <a:ln/>
        </p:spPr>
      </p:sp>
      <p:sp>
        <p:nvSpPr>
          <p:cNvPr id="6" name="Text 4"/>
          <p:cNvSpPr/>
          <p:nvPr/>
        </p:nvSpPr>
        <p:spPr>
          <a:xfrm>
            <a:off x="1828800" y="1097280"/>
            <a:ext cx="5669280" cy="640080"/>
          </a:xfrm>
          <a:prstGeom prst="rect">
            <a:avLst/>
          </a:prstGeom>
          <a:noFill/>
          <a:ln/>
        </p:spPr>
        <p:txBody>
          <a:bodyPr wrap="square" rtlCol="0" anchor="ctr"/>
          <a:lstStyle/>
          <a:p>
            <a:pPr indent="0" marL="0">
              <a:buNone/>
            </a:pPr>
            <a:r>
              <a:rPr lang="en-US" sz="2400" b="1" dirty="0">
                <a:solidFill>
                  <a:srgbClr val="1B2A4A"/>
                </a:solidFill>
                <a:latin typeface="Georgia" pitchFamily="34" charset="0"/>
                <a:ea typeface="Georgia" pitchFamily="34" charset="-122"/>
                <a:cs typeface="Georgia" pitchFamily="34" charset="-120"/>
              </a:rPr>
              <a:t>Theory vs Practice</a:t>
            </a:r>
            <a:endParaRPr lang="en-US" sz="2400" dirty="0"/>
          </a:p>
        </p:txBody>
      </p:sp>
      <p:sp>
        <p:nvSpPr>
          <p:cNvPr id="7" name="Text 5"/>
          <p:cNvSpPr/>
          <p:nvPr/>
        </p:nvSpPr>
        <p:spPr>
          <a:xfrm>
            <a:off x="1828800" y="1828800"/>
            <a:ext cx="5669280" cy="2011680"/>
          </a:xfrm>
          <a:prstGeom prst="rect">
            <a:avLst/>
          </a:prstGeom>
          <a:noFill/>
          <a:ln/>
        </p:spPr>
        <p:txBody>
          <a:bodyPr wrap="square" rtlCol="0" anchor="t"/>
          <a:lstStyle/>
          <a:p>
            <a:pPr indent="0" marL="0">
              <a:lnSpc>
                <a:spcPct val="130000"/>
              </a:lnSpc>
              <a:buNone/>
            </a:pPr>
            <a:r>
              <a:rPr lang="en-US" sz="1500" dirty="0">
                <a:solidFill>
                  <a:srgbClr val="3D3A36"/>
                </a:solidFill>
                <a:latin typeface="Calibri" pitchFamily="34" charset="0"/>
                <a:ea typeface="Calibri" pitchFamily="34" charset="-122"/>
                <a:cs typeface="Calibri" pitchFamily="34" charset="-120"/>
              </a:rPr>
              <a:t>Theoretical probability is what SHOULD happen based on maths. Experimental probability is what ACTUALLY happens when you try it. The more times you repeat an experiment, the closer the experimental probability gets to the theoretical probability. This is called the Law of Large Numbers.</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8F5"/>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2A9D8F"/>
          </a:solidFill>
          <a:ln/>
        </p:spPr>
      </p:sp>
      <p:sp>
        <p:nvSpPr>
          <p:cNvPr id="3" name="Text 1"/>
          <p:cNvSpPr/>
          <p:nvPr/>
        </p:nvSpPr>
        <p:spPr>
          <a:xfrm>
            <a:off x="7772400" y="4709160"/>
            <a:ext cx="1097280" cy="320040"/>
          </a:xfrm>
          <a:prstGeom prst="rect">
            <a:avLst/>
          </a:prstGeom>
          <a:noFill/>
          <a:ln/>
        </p:spPr>
        <p:txBody>
          <a:bodyPr wrap="square" rtlCol="0" anchor="ctr"/>
          <a:lstStyle/>
          <a:p>
            <a:pPr algn="r" indent="0" marL="0">
              <a:buNone/>
            </a:pPr>
            <a:r>
              <a:rPr lang="en-US" sz="900" dirty="0">
                <a:solidFill>
                  <a:srgbClr val="6B6660"/>
                </a:solidFill>
                <a:latin typeface="Calibri" pitchFamily="34" charset="0"/>
                <a:ea typeface="Calibri" pitchFamily="34" charset="-122"/>
                <a:cs typeface="Calibri" pitchFamily="34" charset="-120"/>
              </a:rPr>
              <a:t>3 / 5</a:t>
            </a:r>
            <a:endParaRPr lang="en-US" sz="900" dirty="0"/>
          </a:p>
        </p:txBody>
      </p:sp>
      <p:sp>
        <p:nvSpPr>
          <p:cNvPr id="4" name="Text 2"/>
          <p:cNvSpPr/>
          <p:nvPr/>
        </p:nvSpPr>
        <p:spPr>
          <a:xfrm>
            <a:off x="457200" y="274320"/>
            <a:ext cx="8229600" cy="640080"/>
          </a:xfrm>
          <a:prstGeom prst="rect">
            <a:avLst/>
          </a:prstGeom>
          <a:noFill/>
          <a:ln/>
        </p:spPr>
        <p:txBody>
          <a:bodyPr wrap="square" rtlCol="0" anchor="ctr"/>
          <a:lstStyle/>
          <a:p>
            <a:pPr indent="0" marL="0">
              <a:buNone/>
            </a:pPr>
            <a:r>
              <a:rPr lang="en-US" sz="2600" b="1" dirty="0">
                <a:solidFill>
                  <a:srgbClr val="1B2A4A"/>
                </a:solidFill>
                <a:latin typeface="Georgia" pitchFamily="34" charset="0"/>
                <a:ea typeface="Georgia" pitchFamily="34" charset="-122"/>
                <a:cs typeface="Georgia" pitchFamily="34" charset="-120"/>
              </a:rPr>
              <a:t>Theoretical Probability</a:t>
            </a:r>
            <a:endParaRPr lang="en-US" sz="2600" dirty="0"/>
          </a:p>
        </p:txBody>
      </p:sp>
      <p:sp>
        <p:nvSpPr>
          <p:cNvPr id="5" name="Text 3"/>
          <p:cNvSpPr/>
          <p:nvPr/>
        </p:nvSpPr>
        <p:spPr>
          <a:xfrm>
            <a:off x="457200" y="1188720"/>
            <a:ext cx="3840480" cy="3474720"/>
          </a:xfrm>
          <a:prstGeom prst="rect">
            <a:avLst/>
          </a:prstGeom>
          <a:noFill/>
          <a:ln/>
        </p:spPr>
        <p:txBody>
          <a:bodyPr wrap="square" rtlCol="0" anchor="t"/>
          <a:lstStyle/>
          <a:p>
            <a:pPr marL="342900" indent="-342900">
              <a:spcAft>
                <a:spcPts val="600"/>
              </a:spcAft>
              <a:buSzPct val="100000"/>
              <a:buChar char="•"/>
            </a:pPr>
            <a:r>
              <a:rPr lang="en-US" sz="1400" dirty="0">
                <a:solidFill>
                  <a:srgbClr val="3D3A36"/>
                </a:solidFill>
                <a:latin typeface="Calibri" pitchFamily="34" charset="0"/>
                <a:ea typeface="Calibri" pitchFamily="34" charset="-122"/>
                <a:cs typeface="Calibri" pitchFamily="34" charset="-120"/>
              </a:rPr>
              <a:t>Based on equally likely outcomes</a:t>
            </a:r>
            <a:endParaRPr lang="en-US" sz="1400" dirty="0"/>
          </a:p>
          <a:p>
            <a:pPr marL="342900" indent="-342900">
              <a:spcAft>
                <a:spcPts val="600"/>
              </a:spcAft>
              <a:buSzPct val="100000"/>
              <a:buChar char="•"/>
            </a:pPr>
            <a:r>
              <a:rPr lang="en-US" sz="1400" dirty="0">
                <a:solidFill>
                  <a:srgbClr val="3D3A36"/>
                </a:solidFill>
                <a:latin typeface="Calibri" pitchFamily="34" charset="0"/>
                <a:ea typeface="Calibri" pitchFamily="34" charset="-122"/>
                <a:cs typeface="Calibri" pitchFamily="34" charset="-120"/>
              </a:rPr>
              <a:t>P(heads) = 1/2 because there are 2 equally likely outcomes</a:t>
            </a:r>
            <a:endParaRPr lang="en-US" sz="1400" dirty="0"/>
          </a:p>
          <a:p>
            <a:pPr marL="342900" indent="-342900">
              <a:spcAft>
                <a:spcPts val="600"/>
              </a:spcAft>
              <a:buSzPct val="100000"/>
              <a:buChar char="•"/>
            </a:pPr>
            <a:r>
              <a:rPr lang="en-US" sz="1400" dirty="0">
                <a:solidFill>
                  <a:srgbClr val="3D3A36"/>
                </a:solidFill>
                <a:latin typeface="Calibri" pitchFamily="34" charset="0"/>
                <a:ea typeface="Calibri" pitchFamily="34" charset="-122"/>
                <a:cs typeface="Calibri" pitchFamily="34" charset="-120"/>
              </a:rPr>
              <a:t>P(rolling 6) = 1/6 because there are 6 equally likely outcomes</a:t>
            </a:r>
            <a:endParaRPr lang="en-US" sz="1400" dirty="0"/>
          </a:p>
          <a:p>
            <a:pPr marL="342900" indent="-342900">
              <a:spcAft>
                <a:spcPts val="600"/>
              </a:spcAft>
              <a:buSzPct val="100000"/>
              <a:buChar char="•"/>
            </a:pPr>
            <a:r>
              <a:rPr lang="en-US" sz="1400" dirty="0">
                <a:solidFill>
                  <a:srgbClr val="3D3A36"/>
                </a:solidFill>
                <a:latin typeface="Calibri" pitchFamily="34" charset="0"/>
                <a:ea typeface="Calibri" pitchFamily="34" charset="-122"/>
                <a:cs typeface="Calibri" pitchFamily="34" charset="-120"/>
              </a:rPr>
              <a:t>Doesn't require any actual experiments</a:t>
            </a:r>
            <a:endParaRPr lang="en-US" sz="1400" dirty="0"/>
          </a:p>
          <a:p>
            <a:pPr marL="342900" indent="-342900">
              <a:spcAft>
                <a:spcPts val="600"/>
              </a:spcAft>
              <a:buSzPct val="100000"/>
              <a:buChar char="•"/>
            </a:pPr>
            <a:r>
              <a:rPr lang="en-US" sz="1400" dirty="0">
                <a:solidFill>
                  <a:srgbClr val="3D3A36"/>
                </a:solidFill>
                <a:latin typeface="Calibri" pitchFamily="34" charset="0"/>
                <a:ea typeface="Calibri" pitchFamily="34" charset="-122"/>
                <a:cs typeface="Calibri" pitchFamily="34" charset="-120"/>
              </a:rPr>
              <a:t>Assumes fair/unbiased conditions</a:t>
            </a:r>
            <a:endParaRPr lang="en-US" sz="1400" dirty="0"/>
          </a:p>
        </p:txBody>
      </p:sp>
      <p:sp>
        <p:nvSpPr>
          <p:cNvPr id="6" name="Shape 4"/>
          <p:cNvSpPr/>
          <p:nvPr/>
        </p:nvSpPr>
        <p:spPr>
          <a:xfrm>
            <a:off x="4846320" y="1188720"/>
            <a:ext cx="3840480" cy="3474720"/>
          </a:xfrm>
          <a:prstGeom prst="rect">
            <a:avLst/>
          </a:prstGeom>
          <a:solidFill>
            <a:srgbClr val="FFFFFF"/>
          </a:solidFill>
          <a:ln w="12700">
            <a:solidFill>
              <a:srgbClr val="E5E2DC"/>
            </a:solidFill>
            <a:prstDash val="solid"/>
          </a:ln>
          <a:effectLst>
            <a:outerShdw sx="100000" sy="100000" kx="0" ky="0" algn="bl" rotWithShape="0" blurRad="50800" dist="25400" dir="8100000">
              <a:srgbClr val="000000">
                <a:alpha val="10000"/>
              </a:srgbClr>
            </a:outerShdw>
          </a:effectLst>
        </p:spPr>
      </p:sp>
      <p:sp>
        <p:nvSpPr>
          <p:cNvPr id="7" name="Shape 5"/>
          <p:cNvSpPr/>
          <p:nvPr/>
        </p:nvSpPr>
        <p:spPr>
          <a:xfrm>
            <a:off x="4846320" y="1188720"/>
            <a:ext cx="3840480" cy="54864"/>
          </a:xfrm>
          <a:prstGeom prst="rect">
            <a:avLst/>
          </a:prstGeom>
          <a:solidFill>
            <a:srgbClr val="2A9D8F"/>
          </a:solidFill>
          <a:ln/>
        </p:spPr>
      </p:sp>
      <p:sp>
        <p:nvSpPr>
          <p:cNvPr id="8" name="Text 6"/>
          <p:cNvSpPr/>
          <p:nvPr/>
        </p:nvSpPr>
        <p:spPr>
          <a:xfrm>
            <a:off x="5120640" y="1371600"/>
            <a:ext cx="3291840" cy="3108960"/>
          </a:xfrm>
          <a:prstGeom prst="rect">
            <a:avLst/>
          </a:prstGeom>
          <a:noFill/>
          <a:ln/>
        </p:spPr>
        <p:txBody>
          <a:bodyPr wrap="square" rtlCol="0" anchor="t"/>
          <a:lstStyle/>
          <a:p>
            <a:pPr indent="0" marL="0">
              <a:spcAft>
                <a:spcPts val="400"/>
              </a:spcAft>
              <a:buNone/>
            </a:pPr>
            <a:r>
              <a:rPr lang="en-US" sz="1600" b="1" dirty="0">
                <a:solidFill>
                  <a:srgbClr val="1B2A4A"/>
                </a:solidFill>
                <a:latin typeface="Calibri" pitchFamily="34" charset="0"/>
                <a:ea typeface="Calibri" pitchFamily="34" charset="-122"/>
                <a:cs typeface="Calibri" pitchFamily="34" charset="-120"/>
              </a:rPr>
              <a:t>Experimental Probability</a:t>
            </a:r>
            <a:endParaRPr lang="en-US" sz="1600" dirty="0"/>
          </a:p>
          <a:p>
            <a:pPr indent="0" marL="0">
              <a:spcAft>
                <a:spcPts val="400"/>
              </a:spcAft>
              <a:buNone/>
            </a:pPr>
            <a:endParaRPr lang="en-US" sz="1600" dirty="0"/>
          </a:p>
          <a:p>
            <a:pPr indent="0" marL="0">
              <a:spcAft>
                <a:spcPts val="400"/>
              </a:spcAft>
              <a:buNone/>
            </a:pPr>
            <a:r>
              <a:rPr lang="en-US" sz="1300" dirty="0">
                <a:solidFill>
                  <a:srgbClr val="3D3A36"/>
                </a:solidFill>
                <a:latin typeface="Calibri" pitchFamily="34" charset="0"/>
                <a:ea typeface="Calibri" pitchFamily="34" charset="-122"/>
                <a:cs typeface="Calibri" pitchFamily="34" charset="-120"/>
              </a:rPr>
              <a:t>Based on actual results from experiments</a:t>
            </a:r>
            <a:endParaRPr lang="en-US" sz="1600" dirty="0"/>
          </a:p>
          <a:p>
            <a:pPr indent="0" marL="0">
              <a:spcAft>
                <a:spcPts val="400"/>
              </a:spcAft>
              <a:buNone/>
            </a:pPr>
            <a:r>
              <a:rPr lang="en-US" sz="1300" dirty="0">
                <a:solidFill>
                  <a:srgbClr val="3D3A36"/>
                </a:solidFill>
                <a:latin typeface="Calibri" pitchFamily="34" charset="0"/>
                <a:ea typeface="Calibri" pitchFamily="34" charset="-122"/>
                <a:cs typeface="Calibri" pitchFamily="34" charset="-120"/>
              </a:rPr>
              <a:t>P(heads) = number of heads ÷ number of flips</a:t>
            </a:r>
            <a:endParaRPr lang="en-US" sz="1600" dirty="0"/>
          </a:p>
          <a:p>
            <a:pPr indent="0" marL="0">
              <a:spcAft>
                <a:spcPts val="400"/>
              </a:spcAft>
              <a:buNone/>
            </a:pPr>
            <a:r>
              <a:rPr lang="en-US" sz="1300" dirty="0">
                <a:solidFill>
                  <a:srgbClr val="3D3A36"/>
                </a:solidFill>
                <a:latin typeface="Calibri" pitchFamily="34" charset="0"/>
                <a:ea typeface="Calibri" pitchFamily="34" charset="-122"/>
                <a:cs typeface="Calibri" pitchFamily="34" charset="-120"/>
              </a:rPr>
              <a:t>If you flip 100 times and get 47 heads: P = 47/100 = 0.47</a:t>
            </a:r>
            <a:endParaRPr lang="en-US" sz="1600" dirty="0"/>
          </a:p>
          <a:p>
            <a:pPr indent="0" marL="0">
              <a:spcAft>
                <a:spcPts val="400"/>
              </a:spcAft>
              <a:buNone/>
            </a:pPr>
            <a:r>
              <a:rPr lang="en-US" sz="1300" dirty="0">
                <a:solidFill>
                  <a:srgbClr val="3D3A36"/>
                </a:solidFill>
                <a:latin typeface="Calibri" pitchFamily="34" charset="0"/>
                <a:ea typeface="Calibri" pitchFamily="34" charset="-122"/>
                <a:cs typeface="Calibri" pitchFamily="34" charset="-120"/>
              </a:rPr>
              <a:t>Results vary each time you repeat</a:t>
            </a:r>
            <a:endParaRPr lang="en-US" sz="1600" dirty="0"/>
          </a:p>
          <a:p>
            <a:pPr indent="0" marL="0">
              <a:spcAft>
                <a:spcPts val="400"/>
              </a:spcAft>
              <a:buNone/>
            </a:pPr>
            <a:r>
              <a:rPr lang="en-US" sz="1300" dirty="0">
                <a:solidFill>
                  <a:srgbClr val="3D3A36"/>
                </a:solidFill>
                <a:latin typeface="Calibri" pitchFamily="34" charset="0"/>
                <a:ea typeface="Calibri" pitchFamily="34" charset="-122"/>
                <a:cs typeface="Calibri" pitchFamily="34" charset="-120"/>
              </a:rPr>
              <a:t>More trials = closer to theoretical probability</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8F5"/>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2A9D8F"/>
          </a:solidFill>
          <a:ln/>
        </p:spPr>
      </p:sp>
      <p:sp>
        <p:nvSpPr>
          <p:cNvPr id="3" name="Text 1"/>
          <p:cNvSpPr/>
          <p:nvPr/>
        </p:nvSpPr>
        <p:spPr>
          <a:xfrm>
            <a:off x="7772400" y="4709160"/>
            <a:ext cx="1097280" cy="320040"/>
          </a:xfrm>
          <a:prstGeom prst="rect">
            <a:avLst/>
          </a:prstGeom>
          <a:noFill/>
          <a:ln/>
        </p:spPr>
        <p:txBody>
          <a:bodyPr wrap="square" rtlCol="0" anchor="ctr"/>
          <a:lstStyle/>
          <a:p>
            <a:pPr algn="r" indent="0" marL="0">
              <a:buNone/>
            </a:pPr>
            <a:r>
              <a:rPr lang="en-US" sz="900" dirty="0">
                <a:solidFill>
                  <a:srgbClr val="6B6660"/>
                </a:solidFill>
                <a:latin typeface="Calibri" pitchFamily="34" charset="0"/>
                <a:ea typeface="Calibri" pitchFamily="34" charset="-122"/>
                <a:cs typeface="Calibri" pitchFamily="34" charset="-120"/>
              </a:rPr>
              <a:t>4 / 5</a:t>
            </a:r>
            <a:endParaRPr lang="en-US" sz="900" dirty="0"/>
          </a:p>
        </p:txBody>
      </p:sp>
      <p:sp>
        <p:nvSpPr>
          <p:cNvPr id="4" name="Text 2"/>
          <p:cNvSpPr/>
          <p:nvPr/>
        </p:nvSpPr>
        <p:spPr>
          <a:xfrm>
            <a:off x="457200" y="274320"/>
            <a:ext cx="8229600" cy="640080"/>
          </a:xfrm>
          <a:prstGeom prst="rect">
            <a:avLst/>
          </a:prstGeom>
          <a:noFill/>
          <a:ln/>
        </p:spPr>
        <p:txBody>
          <a:bodyPr wrap="square" rtlCol="0" anchor="ctr"/>
          <a:lstStyle/>
          <a:p>
            <a:pPr indent="0" marL="0">
              <a:buNone/>
            </a:pPr>
            <a:r>
              <a:rPr lang="en-US" sz="2600" b="1" dirty="0">
                <a:solidFill>
                  <a:srgbClr val="1B2A4A"/>
                </a:solidFill>
                <a:latin typeface="Georgia" pitchFamily="34" charset="0"/>
                <a:ea typeface="Georgia" pitchFamily="34" charset="-122"/>
                <a:cs typeface="Georgia" pitchFamily="34" charset="-120"/>
              </a:rPr>
              <a:t>The Law of Large Numbers</a:t>
            </a:r>
            <a:endParaRPr lang="en-US" sz="2600" dirty="0"/>
          </a:p>
        </p:txBody>
      </p:sp>
      <p:sp>
        <p:nvSpPr>
          <p:cNvPr id="5" name="Text 3"/>
          <p:cNvSpPr/>
          <p:nvPr/>
        </p:nvSpPr>
        <p:spPr>
          <a:xfrm>
            <a:off x="457200" y="1097280"/>
            <a:ext cx="8229600" cy="3657600"/>
          </a:xfrm>
          <a:prstGeom prst="rect">
            <a:avLst/>
          </a:prstGeom>
          <a:noFill/>
          <a:ln/>
        </p:spPr>
        <p:txBody>
          <a:bodyPr wrap="square" rtlCol="0" anchor="t"/>
          <a:lstStyle/>
          <a:p>
            <a:pPr marL="342900" indent="-342900">
              <a:spcAft>
                <a:spcPts val="800"/>
              </a:spcAft>
              <a:buSzPct val="100000"/>
              <a:buChar char="•"/>
            </a:pPr>
            <a:r>
              <a:rPr lang="en-US" sz="1400" dirty="0">
                <a:solidFill>
                  <a:srgbClr val="3D3A36"/>
                </a:solidFill>
                <a:latin typeface="Calibri" pitchFamily="34" charset="0"/>
                <a:ea typeface="Calibri" pitchFamily="34" charset="-122"/>
                <a:cs typeface="Calibri" pitchFamily="34" charset="-120"/>
              </a:rPr>
              <a:t>With few trials, results can be very different from theoretical</a:t>
            </a:r>
            <a:endParaRPr lang="en-US" sz="1400" dirty="0"/>
          </a:p>
          <a:p>
            <a:pPr marL="342900" indent="-342900">
              <a:spcAft>
                <a:spcPts val="800"/>
              </a:spcAft>
              <a:buSzPct val="100000"/>
              <a:buChar char="•"/>
            </a:pPr>
            <a:r>
              <a:rPr lang="en-US" sz="1400" dirty="0">
                <a:solidFill>
                  <a:srgbClr val="3D3A36"/>
                </a:solidFill>
                <a:latin typeface="Calibri" pitchFamily="34" charset="0"/>
                <a:ea typeface="Calibri" pitchFamily="34" charset="-122"/>
                <a:cs typeface="Calibri" pitchFamily="34" charset="-120"/>
              </a:rPr>
              <a:t>Flip a coin 10 times: might get 7 heads (70%) — not unusual</a:t>
            </a:r>
            <a:endParaRPr lang="en-US" sz="1400" dirty="0"/>
          </a:p>
          <a:p>
            <a:pPr marL="342900" indent="-342900">
              <a:spcAft>
                <a:spcPts val="800"/>
              </a:spcAft>
              <a:buSzPct val="100000"/>
              <a:buChar char="•"/>
            </a:pPr>
            <a:r>
              <a:rPr lang="en-US" sz="1400" dirty="0">
                <a:solidFill>
                  <a:srgbClr val="3D3A36"/>
                </a:solidFill>
                <a:latin typeface="Calibri" pitchFamily="34" charset="0"/>
                <a:ea typeface="Calibri" pitchFamily="34" charset="-122"/>
                <a:cs typeface="Calibri" pitchFamily="34" charset="-120"/>
              </a:rPr>
              <a:t>Flip 100 times: probably closer to 50% heads</a:t>
            </a:r>
            <a:endParaRPr lang="en-US" sz="1400" dirty="0"/>
          </a:p>
          <a:p>
            <a:pPr marL="342900" indent="-342900">
              <a:spcAft>
                <a:spcPts val="800"/>
              </a:spcAft>
              <a:buSzPct val="100000"/>
              <a:buChar char="•"/>
            </a:pPr>
            <a:r>
              <a:rPr lang="en-US" sz="1400" dirty="0">
                <a:solidFill>
                  <a:srgbClr val="3D3A36"/>
                </a:solidFill>
                <a:latin typeface="Calibri" pitchFamily="34" charset="0"/>
                <a:ea typeface="Calibri" pitchFamily="34" charset="-122"/>
                <a:cs typeface="Calibri" pitchFamily="34" charset="-120"/>
              </a:rPr>
              <a:t>Flip 1000 times: very close to 50%</a:t>
            </a:r>
            <a:endParaRPr lang="en-US" sz="1400" dirty="0"/>
          </a:p>
          <a:p>
            <a:pPr marL="342900" indent="-342900">
              <a:spcAft>
                <a:spcPts val="800"/>
              </a:spcAft>
              <a:buSzPct val="100000"/>
              <a:buChar char="•"/>
            </a:pPr>
            <a:r>
              <a:rPr lang="en-US" sz="1400" dirty="0">
                <a:solidFill>
                  <a:srgbClr val="3D3A36"/>
                </a:solidFill>
                <a:latin typeface="Calibri" pitchFamily="34" charset="0"/>
                <a:ea typeface="Calibri" pitchFamily="34" charset="-122"/>
                <a:cs typeface="Calibri" pitchFamily="34" charset="-120"/>
              </a:rPr>
              <a:t>This pattern is the Law of Large Numbers</a:t>
            </a:r>
            <a:endParaRPr lang="en-US" sz="1400" dirty="0"/>
          </a:p>
          <a:p>
            <a:pPr marL="342900" indent="-342900">
              <a:spcAft>
                <a:spcPts val="800"/>
              </a:spcAft>
              <a:buSzPct val="100000"/>
              <a:buChar char="•"/>
            </a:pPr>
            <a:r>
              <a:rPr lang="en-US" sz="1400" dirty="0">
                <a:solidFill>
                  <a:srgbClr val="3D3A36"/>
                </a:solidFill>
                <a:latin typeface="Calibri" pitchFamily="34" charset="0"/>
                <a:ea typeface="Calibri" pitchFamily="34" charset="-122"/>
                <a:cs typeface="Calibri" pitchFamily="34" charset="-120"/>
              </a:rPr>
              <a:t>It doesn't mean results will be EXACTLY 50% — just close</a:t>
            </a:r>
            <a:endParaRPr lang="en-US" sz="1400" dirty="0"/>
          </a:p>
          <a:p>
            <a:pPr marL="342900" indent="-342900">
              <a:spcAft>
                <a:spcPts val="800"/>
              </a:spcAft>
              <a:buSzPct val="100000"/>
              <a:buChar char="•"/>
            </a:pPr>
            <a:r>
              <a:rPr lang="en-US" sz="1400" dirty="0">
                <a:solidFill>
                  <a:srgbClr val="3D3A36"/>
                </a:solidFill>
                <a:latin typeface="Calibri" pitchFamily="34" charset="0"/>
                <a:ea typeface="Calibri" pitchFamily="34" charset="-122"/>
                <a:cs typeface="Calibri" pitchFamily="34" charset="-120"/>
              </a:rPr>
              <a:t>Experimental probability is useful when theoretical is hard to calculate</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B2A4A"/>
        </a:solidFill>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E9C46A"/>
          </a:solidFill>
          <a:ln/>
        </p:spPr>
      </p:sp>
      <p:sp>
        <p:nvSpPr>
          <p:cNvPr id="3" name="Text 1"/>
          <p:cNvSpPr/>
          <p:nvPr/>
        </p:nvSpPr>
        <p:spPr>
          <a:xfrm>
            <a:off x="731520" y="457200"/>
            <a:ext cx="7772400" cy="731520"/>
          </a:xfrm>
          <a:prstGeom prst="rect">
            <a:avLst/>
          </a:prstGeom>
          <a:noFill/>
          <a:ln/>
        </p:spPr>
        <p:txBody>
          <a:bodyPr wrap="square" rtlCol="0" anchor="ctr"/>
          <a:lstStyle/>
          <a:p>
            <a:pPr indent="0" marL="0">
              <a:buNone/>
            </a:pPr>
            <a:r>
              <a:rPr lang="en-US" sz="3200" b="1" dirty="0">
                <a:solidFill>
                  <a:srgbClr val="FFFFFF"/>
                </a:solidFill>
                <a:latin typeface="Georgia" pitchFamily="34" charset="0"/>
                <a:ea typeface="Georgia" pitchFamily="34" charset="-122"/>
                <a:cs typeface="Georgia" pitchFamily="34" charset="-120"/>
              </a:rPr>
              <a:t>Key Takeaways</a:t>
            </a:r>
            <a:endParaRPr lang="en-US" sz="3200" dirty="0"/>
          </a:p>
        </p:txBody>
      </p:sp>
      <p:sp>
        <p:nvSpPr>
          <p:cNvPr id="4" name="Text 2"/>
          <p:cNvSpPr/>
          <p:nvPr/>
        </p:nvSpPr>
        <p:spPr>
          <a:xfrm>
            <a:off x="731520" y="1463040"/>
            <a:ext cx="7772400" cy="3200400"/>
          </a:xfrm>
          <a:prstGeom prst="rect">
            <a:avLst/>
          </a:prstGeom>
          <a:noFill/>
          <a:ln/>
        </p:spPr>
        <p:txBody>
          <a:bodyPr wrap="square" rtlCol="0" anchor="t"/>
          <a:lstStyle/>
          <a:p>
            <a:pPr marL="342900" indent="-342900">
              <a:spcAft>
                <a:spcPts val="1000"/>
              </a:spcAft>
              <a:buSzPct val="100000"/>
              <a:buChar char="•"/>
            </a:pPr>
            <a:r>
              <a:rPr lang="en-US" sz="1500" dirty="0">
                <a:solidFill>
                  <a:srgbClr val="CADCFC"/>
                </a:solidFill>
                <a:latin typeface="Calibri" pitchFamily="34" charset="0"/>
                <a:ea typeface="Calibri" pitchFamily="34" charset="-122"/>
                <a:cs typeface="Calibri" pitchFamily="34" charset="-120"/>
              </a:rPr>
              <a:t>Theoretical: based on maths (equally likely outcomes)</a:t>
            </a:r>
            <a:endParaRPr lang="en-US" sz="1500" dirty="0"/>
          </a:p>
          <a:p>
            <a:pPr marL="342900" indent="-342900">
              <a:spcAft>
                <a:spcPts val="1000"/>
              </a:spcAft>
              <a:buSzPct val="100000"/>
              <a:buChar char="•"/>
            </a:pPr>
            <a:r>
              <a:rPr lang="en-US" sz="1500" dirty="0">
                <a:solidFill>
                  <a:srgbClr val="CADCFC"/>
                </a:solidFill>
                <a:latin typeface="Calibri" pitchFamily="34" charset="0"/>
                <a:ea typeface="Calibri" pitchFamily="34" charset="-122"/>
                <a:cs typeface="Calibri" pitchFamily="34" charset="-120"/>
              </a:rPr>
              <a:t>Experimental: based on actual trial results</a:t>
            </a:r>
            <a:endParaRPr lang="en-US" sz="1500" dirty="0"/>
          </a:p>
          <a:p>
            <a:pPr marL="342900" indent="-342900">
              <a:spcAft>
                <a:spcPts val="1000"/>
              </a:spcAft>
              <a:buSzPct val="100000"/>
              <a:buChar char="•"/>
            </a:pPr>
            <a:r>
              <a:rPr lang="en-US" sz="1500" dirty="0">
                <a:solidFill>
                  <a:srgbClr val="CADCFC"/>
                </a:solidFill>
                <a:latin typeface="Calibri" pitchFamily="34" charset="0"/>
                <a:ea typeface="Calibri" pitchFamily="34" charset="-122"/>
                <a:cs typeface="Calibri" pitchFamily="34" charset="-120"/>
              </a:rPr>
              <a:t>More trials → experimental approaches theoretical (Law of Large Numbers)</a:t>
            </a:r>
            <a:endParaRPr lang="en-US" sz="1500" dirty="0"/>
          </a:p>
          <a:p>
            <a:pPr marL="342900" indent="-342900">
              <a:spcAft>
                <a:spcPts val="1000"/>
              </a:spcAft>
              <a:buSzPct val="100000"/>
              <a:buChar char="•"/>
            </a:pPr>
            <a:r>
              <a:rPr lang="en-US" sz="1500" dirty="0">
                <a:solidFill>
                  <a:srgbClr val="CADCFC"/>
                </a:solidFill>
                <a:latin typeface="Calibri" pitchFamily="34" charset="0"/>
                <a:ea typeface="Calibri" pitchFamily="34" charset="-122"/>
                <a:cs typeface="Calibri" pitchFamily="34" charset="-120"/>
              </a:rPr>
              <a:t>Results vary with small samples</a:t>
            </a:r>
            <a:endParaRPr lang="en-US" sz="1500" dirty="0"/>
          </a:p>
          <a:p>
            <a:pPr marL="342900" indent="-342900">
              <a:spcAft>
                <a:spcPts val="1000"/>
              </a:spcAft>
              <a:buSzPct val="100000"/>
              <a:buChar char="•"/>
            </a:pPr>
            <a:r>
              <a:rPr lang="en-US" sz="1500" dirty="0">
                <a:solidFill>
                  <a:srgbClr val="CADCFC"/>
                </a:solidFill>
                <a:latin typeface="Calibri" pitchFamily="34" charset="0"/>
                <a:ea typeface="Calibri" pitchFamily="34" charset="-122"/>
                <a:cs typeface="Calibri" pitchFamily="34" charset="-120"/>
              </a:rPr>
              <a:t>Experimental useful when you can't calculate theoretical</a:t>
            </a:r>
            <a:endParaRPr lang="en-US" sz="1500" dirty="0"/>
          </a:p>
        </p:txBody>
      </p:sp>
      <p:sp>
        <p:nvSpPr>
          <p:cNvPr id="5" name="Text 3"/>
          <p:cNvSpPr/>
          <p:nvPr/>
        </p:nvSpPr>
        <p:spPr>
          <a:xfrm>
            <a:off x="731520" y="4572000"/>
            <a:ext cx="7772400" cy="365760"/>
          </a:xfrm>
          <a:prstGeom prst="rect">
            <a:avLst/>
          </a:prstGeom>
          <a:noFill/>
          <a:ln/>
        </p:spPr>
        <p:txBody>
          <a:bodyPr wrap="square" rtlCol="0" anchor="ctr"/>
          <a:lstStyle/>
          <a:p>
            <a:pPr indent="0" marL="0">
              <a:buNone/>
            </a:pPr>
            <a:r>
              <a:rPr lang="en-US" sz="1100" dirty="0">
                <a:solidFill>
                  <a:srgbClr val="E9C46A"/>
                </a:solidFill>
                <a:latin typeface="Calibri" pitchFamily="34" charset="0"/>
                <a:ea typeface="Calibri" pitchFamily="34" charset="-122"/>
                <a:cs typeface="Calibri" pitchFamily="34" charset="-120"/>
              </a:rPr>
              <a:t>mrzocchi.com</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Experimental vs Theoretical Probability</dc:title>
  <dc:subject>PptxGenJS Presentation</dc:subject>
  <dc:creator>Mr Zocchi</dc:creator>
  <cp:lastModifiedBy>Mr Zocchi</cp:lastModifiedBy>
  <cp:revision>1</cp:revision>
  <dcterms:created xsi:type="dcterms:W3CDTF">2026-03-23T04:01:17Z</dcterms:created>
  <dcterms:modified xsi:type="dcterms:W3CDTF">2026-03-23T04:01:17Z</dcterms:modified>
</cp:coreProperties>
</file>