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731520"/>
            <a:ext cx="2011680" cy="411480"/>
          </a:xfrm>
          <a:prstGeom prst="roundRect">
            <a:avLst>
              <a:gd name="adj" fmla="val 33333"/>
            </a:avLst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7315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GRADE 8 SCIENCE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1828800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Food Webs &amp; Energy Transfer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 3 · Biology — Ecology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56692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 ZOCCHI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60350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🎯 Learning Objectives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you will be able to: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2011680"/>
            <a:ext cx="10515600" cy="594360"/>
          </a:xfrm>
          <a:prstGeom prst="roundRect">
            <a:avLst>
              <a:gd name="adj" fmla="val 15385"/>
            </a:avLst>
          </a:prstGeom>
          <a:solidFill>
            <a:srgbClr val="F3F1EE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121408"/>
            <a:ext cx="365760" cy="36576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12140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63040" y="205740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Construct and interpret food webs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2743200"/>
            <a:ext cx="10515600" cy="594360"/>
          </a:xfrm>
          <a:prstGeom prst="roundRect">
            <a:avLst>
              <a:gd name="adj" fmla="val 15385"/>
            </a:avLst>
          </a:prstGeom>
          <a:solidFill>
            <a:srgbClr val="F3F1EE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2852928"/>
            <a:ext cx="365760" cy="36576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85292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463040" y="278892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 energy flow through trophic levels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31520" y="3474720"/>
            <a:ext cx="10515600" cy="594360"/>
          </a:xfrm>
          <a:prstGeom prst="roundRect">
            <a:avLst>
              <a:gd name="adj" fmla="val 15385"/>
            </a:avLst>
          </a:prstGeom>
          <a:solidFill>
            <a:srgbClr val="F3F1EE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3584448"/>
            <a:ext cx="365760" cy="36576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358444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463040" y="352044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 why energy is lost between levels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8" name="Text 16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Food Chains &amp; Webs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41732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Producer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754880" y="141732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Makes own food by photosynthesis (plants, algae)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31520" y="214884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219456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Consumer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754880" y="219456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Herbivore that eats producers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31520" y="292608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297180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Secondary Consumer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754880" y="297180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Carnivore/omnivore that eats primary consumers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31520" y="370332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37490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Tertiary Consumer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754880" y="374904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predator — eats secondary consumers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31520" y="448056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5840" y="452628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Food web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754880" y="452628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Multiple interconnected food chains in an ecosystem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0" name="Text 18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Energy Loss Between Levels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41732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Only about 10% of energy passes to the next level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214884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8F6F3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Energy is lost as heat through respiration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31520" y="292608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29718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Energy is lost in waste (urine, faeces)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31520" y="370332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8F6F3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3749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Energy is lost in uneaten parts (bones, roots)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48056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0" y="45262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This limits food chains to 4–5 levels maximum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5" name="Text 13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📖 Key Vocabulary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630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Producer  生产者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182880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Makes food by photosynthesis. First trophic level.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60520" y="137160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97680" y="14630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  消费者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297680" y="182880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Organism that eats other organisms for energy.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772400" y="137160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09560" y="14630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Decomposer  分解者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909560" y="182880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Breaks down dead matter, recycling nutrients.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283464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29260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Trophic Level  营养级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85800" y="329184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Feeding level in a food chain (producer → consumer).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160520" y="283464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97680" y="29260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Biomass  生物量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297680" y="329184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mass of organisms at each trophic level.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772400" y="283464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09560" y="29260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Apex Predator  顶级捕食者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909560" y="329184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of the food chain — no natural predators.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3" name="Text 21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🧠 Check Your Understanding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38988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Q1: What is a producer?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097280" y="196596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7" name="Text 5"/>
          <p:cNvSpPr/>
          <p:nvPr/>
        </p:nvSpPr>
        <p:spPr>
          <a:xfrm>
            <a:off x="1371600" y="198424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An organism that makes its own food through photosynthesis (plants, algae).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60604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62432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Q2: Why does energy decrease at each trophic level?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097280" y="320040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11" name="Text 9"/>
          <p:cNvSpPr/>
          <p:nvPr/>
        </p:nvSpPr>
        <p:spPr>
          <a:xfrm>
            <a:off x="1371600" y="321868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Energy is lost as heat (respiration), waste, and uneaten parts.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84048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85876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Q3: About what percentage of energy passes to the next level?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1097280" y="443484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15" name="Text 13"/>
          <p:cNvSpPr/>
          <p:nvPr/>
        </p:nvSpPr>
        <p:spPr>
          <a:xfrm>
            <a:off x="1371600" y="445312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About 10%.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507492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509320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Q4: What would happen if decomposers disappeared?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1097280" y="566928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19" name="Text 17"/>
          <p:cNvSpPr/>
          <p:nvPr/>
        </p:nvSpPr>
        <p:spPr>
          <a:xfrm>
            <a:off x="1371600" y="568756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Dead matter would accumulate and nutrients wouldn't be recycled back into soil.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📌 Key Takeaways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55448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371600" y="155448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Producers → primary consumers → secondary → tertiary consumers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228600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37744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71600" y="237744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~10% of energy transfers to the next trophic level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31520" y="310896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320040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371600" y="320040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 lost through respiration (heat), waste, and uneaten parts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31520" y="393192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402336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71600" y="402336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limits food chains to 4–5 levels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31520" y="475488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484632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371600" y="484632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Decomposers recycle nutrients back into the ecosystem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0" name="Text 18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400800"/>
            <a:ext cx="12188952" cy="7315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1828800"/>
            <a:ext cx="121889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 Practising!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0" y="3017520"/>
            <a:ext cx="121889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the Self-Quiz and Review Games on mrzocchi.com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0" y="502920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9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Food Webs &amp; Energy Transfer</dc:title>
  <dc:subject>PptxGenJS Presentation</dc:subject>
  <dc:creator>Mr Zocchi</dc:creator>
  <cp:lastModifiedBy>Mr Zocchi</cp:lastModifiedBy>
  <cp:revision>1</cp:revision>
  <dcterms:created xsi:type="dcterms:W3CDTF">2026-03-24T11:35:32Z</dcterms:created>
  <dcterms:modified xsi:type="dcterms:W3CDTF">2026-03-24T11:35:32Z</dcterms:modified>
</cp:coreProperties>
</file>